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rgbClr val="141A22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6B728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41A2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82296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Doorman  ·  Team Sierra  ·  Colibri Digital hackathon, 21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ck body"/>
          <p:cNvSpPr/>
          <p:nvPr/>
        </p:nvSpPr>
        <p:spPr>
          <a:xfrm>
            <a:off x="822960" y="1442466"/>
            <a:ext cx="1056132" cy="76809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30480">
            <a:solidFill>
              <a:srgbClr val="3451D1"/>
            </a:solidFill>
            <a:prstDash val="solid"/>
          </a:ln>
        </p:spPr>
      </p:sp>
      <p:sp>
        <p:nvSpPr>
          <p:cNvPr id="3" name="lock shackle"/>
          <p:cNvSpPr/>
          <p:nvPr/>
        </p:nvSpPr>
        <p:spPr>
          <a:xfrm>
            <a:off x="1062990" y="962406"/>
            <a:ext cx="576072" cy="720090"/>
          </a:xfrm>
          <a:prstGeom prst="arc">
            <a:avLst>
              <a:gd name="adj1" fmla="val 10800000"/>
              <a:gd name="adj2" fmla="val 21600000"/>
            </a:avLst>
          </a:prstGeom>
          <a:noFill/>
          <a:ln w="30480">
            <a:solidFill>
              <a:srgbClr val="3451D1"/>
            </a:solidFill>
            <a:prstDash val="solid"/>
          </a:ln>
        </p:spPr>
      </p:sp>
      <p:sp>
        <p:nvSpPr>
          <p:cNvPr id="4" name="keyhole"/>
          <p:cNvSpPr/>
          <p:nvPr/>
        </p:nvSpPr>
        <p:spPr>
          <a:xfrm>
            <a:off x="1274216" y="1749704"/>
            <a:ext cx="153619" cy="153619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141A22"/>
                </a:solidFill>
              </a:rPr>
              <a:t>Doorman</a:t>
            </a:r>
            <a:endParaRPr lang="en-US" sz="6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7033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rgbClr val="6B7280"/>
                </a:solidFill>
              </a:rPr>
              <a:t>Ask. Approve. Granted, for real, and on the record.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6B7280"/>
                </a:solidFill>
              </a:rPr>
              <a:t>A governed front door for market data on a trading desk.</a:t>
            </a:r>
            <a:endParaRPr lang="en-US" sz="2400" dirty="0"/>
          </a:p>
        </p:txBody>
      </p:sp>
      <p:sp>
        <p:nvSpPr>
          <p:cNvPr id="7" name="cover footer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Team Sierra  ·  Colibri Digital hackathon, Track 3: the governed front door  ·  21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Getting data on a desk, before and after</a:t>
            </a:r>
            <a:endParaRPr lang="en-US" sz="3200" dirty="0"/>
          </a:p>
        </p:txBody>
      </p:sp>
      <p:sp>
        <p:nvSpPr>
          <p:cNvPr id="3" name="panel Before: a ticket and an email chain"/>
          <p:cNvSpPr/>
          <p:nvPr/>
        </p:nvSpPr>
        <p:spPr>
          <a:xfrm>
            <a:off x="822960" y="164592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Before: a ticket and an email chain"/>
          <p:cNvSpPr txBox="1"/>
          <p:nvPr/>
        </p:nvSpPr>
        <p:spPr>
          <a:xfrm>
            <a:off x="1097280" y="1874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Before: a ticket and an email chain</a:t>
            </a:r>
            <a:endParaRPr lang="en-US" sz="1800" dirty="0"/>
          </a:p>
        </p:txBody>
      </p:sp>
      <p:sp>
        <p:nvSpPr>
          <p:cNvPr id="5" name="panel body Before: a ticket and an email chain"/>
          <p:cNvSpPr txBox="1"/>
          <p:nvPr/>
        </p:nvSpPr>
        <p:spPr>
          <a:xfrm>
            <a:off x="109728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The analyst emails the owner and waits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Nobody can say who has what, why, or what it costs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Confidential tables get opened by habit</a:t>
            </a:r>
            <a:endParaRPr lang="en-US" sz="1500" dirty="0"/>
          </a:p>
        </p:txBody>
      </p:sp>
      <p:sp>
        <p:nvSpPr>
          <p:cNvPr id="6" name="panel After: Doorman"/>
          <p:cNvSpPr/>
          <p:nvPr/>
        </p:nvSpPr>
        <p:spPr>
          <a:xfrm>
            <a:off x="6263640" y="164592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After: Doorman"/>
          <p:cNvSpPr txBox="1"/>
          <p:nvPr/>
        </p:nvSpPr>
        <p:spPr>
          <a:xfrm>
            <a:off x="6537960" y="1874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8A4C"/>
                </a:solidFill>
              </a:rPr>
              <a:t>After: Doorman</a:t>
            </a:r>
            <a:endParaRPr lang="en-US" sz="1800" dirty="0"/>
          </a:p>
        </p:txBody>
      </p:sp>
      <p:sp>
        <p:nvSpPr>
          <p:cNvPr id="8" name="panel body After: Doorman"/>
          <p:cNvSpPr txBox="1"/>
          <p:nvPr/>
        </p:nvSpPr>
        <p:spPr>
          <a:xfrm>
            <a:off x="653796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The analyst asks in the app, with a reason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The owner sees the reason and the £ per month, then decides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Approval is a real Unity Catalog grant; every step is on the record</a:t>
            </a:r>
            <a:endParaRPr lang="en-US" sz="1500" dirty="0"/>
          </a:p>
        </p:txBody>
      </p:sp>
      <p:sp>
        <p:nvSpPr>
          <p:cNvPr id="9" name="stat 0"/>
          <p:cNvSpPr txBox="1"/>
          <p:nvPr/>
        </p:nvSpPr>
        <p:spPr>
          <a:xfrm>
            <a:off x="822960" y="5074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1</a:t>
            </a:r>
            <a:endParaRPr lang="en-US" sz="4000" dirty="0"/>
          </a:p>
        </p:txBody>
      </p:sp>
      <p:sp>
        <p:nvSpPr>
          <p:cNvPr id="10" name="stat text 0"/>
          <p:cNvSpPr txBox="1"/>
          <p:nvPr/>
        </p:nvSpPr>
        <p:spPr>
          <a:xfrm>
            <a:off x="2331720" y="5120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table is the queue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and the audit trail</a:t>
            </a:r>
            <a:endParaRPr lang="en-US" sz="1200" dirty="0"/>
          </a:p>
        </p:txBody>
      </p:sp>
      <p:sp>
        <p:nvSpPr>
          <p:cNvPr id="11" name="stat 1"/>
          <p:cNvSpPr txBox="1"/>
          <p:nvPr/>
        </p:nvSpPr>
        <p:spPr>
          <a:xfrm>
            <a:off x="4434840" y="5074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0</a:t>
            </a:r>
            <a:endParaRPr lang="en-US" sz="4000" dirty="0"/>
          </a:p>
        </p:txBody>
      </p:sp>
      <p:sp>
        <p:nvSpPr>
          <p:cNvPr id="12" name="stat text 1"/>
          <p:cNvSpPr txBox="1"/>
          <p:nvPr/>
        </p:nvSpPr>
        <p:spPr>
          <a:xfrm>
            <a:off x="5943600" y="5120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table names in code: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the catalogue is the tags</a:t>
            </a:r>
            <a:endParaRPr lang="en-US" sz="1200" dirty="0"/>
          </a:p>
        </p:txBody>
      </p:sp>
      <p:sp>
        <p:nvSpPr>
          <p:cNvPr id="13" name="stat 2"/>
          <p:cNvSpPr txBox="1"/>
          <p:nvPr/>
        </p:nvSpPr>
        <p:spPr>
          <a:xfrm>
            <a:off x="8046720" y="5074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£120</a:t>
            </a:r>
            <a:endParaRPr lang="en-US" sz="4000" dirty="0"/>
          </a:p>
        </p:txBody>
      </p:sp>
      <p:sp>
        <p:nvSpPr>
          <p:cNvPr id="14" name="stat text 2"/>
          <p:cNvSpPr txBox="1"/>
          <p:nvPr/>
        </p:nvSpPr>
        <p:spPr>
          <a:xfrm>
            <a:off x="9555480" y="5120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per user per month for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one licensed price feed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The catalogue: every tagged table, nothing else</a:t>
            </a:r>
            <a:endParaRPr lang="en-US" sz="3200" dirty="0"/>
          </a:p>
        </p:txBody>
      </p:sp>
      <p:sp>
        <p:nvSpPr>
          <p:cNvPr id="3" name="catalogue frame"/>
          <p:cNvSpPr/>
          <p:nvPr/>
        </p:nvSpPr>
        <p:spPr>
          <a:xfrm>
            <a:off x="786384" y="1335024"/>
            <a:ext cx="9217152" cy="3410378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</p:spPr>
      </p:sp>
      <p:pic>
        <p:nvPicPr>
          <p:cNvPr id="4" name="catalogue screenshot" descr="/private/tmp/claude-501/-Users-yo84/972981a2-2672-4baf-8bfb-564a2e546510/scratchpad/deck/shot_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9144000" cy="3337226"/>
          </a:xfrm>
          <a:prstGeom prst="rect">
            <a:avLst/>
          </a:prstGeom>
        </p:spPr>
      </p:pic>
      <p:sp>
        <p:nvSpPr>
          <p:cNvPr id="5" name="callout dot 1"/>
          <p:cNvSpPr/>
          <p:nvPr/>
        </p:nvSpPr>
        <p:spPr>
          <a:xfrm>
            <a:off x="82296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6" name="callout n 1"/>
          <p:cNvSpPr txBox="1"/>
          <p:nvPr/>
        </p:nvSpPr>
        <p:spPr>
          <a:xfrm>
            <a:off x="82296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callout head 1"/>
          <p:cNvSpPr txBox="1"/>
          <p:nvPr/>
        </p:nvSpPr>
        <p:spPr>
          <a:xfrm>
            <a:off x="128016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Owner, sensitivity, £ per month</a:t>
            </a:r>
            <a:endParaRPr lang="en-US" sz="1500" dirty="0"/>
          </a:p>
        </p:txBody>
      </p:sp>
      <p:sp>
        <p:nvSpPr>
          <p:cNvPr id="8" name="callout body 1"/>
          <p:cNvSpPr txBox="1"/>
          <p:nvPr/>
        </p:nvSpPr>
        <p:spPr>
          <a:xfrm>
            <a:off x="1280160" y="544034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All three are Unity Catalog tags on the table. Tag a new table and it appears here. No deploy.</a:t>
            </a:r>
            <a:endParaRPr lang="en-US" sz="1300" dirty="0"/>
          </a:p>
        </p:txBody>
      </p:sp>
      <p:sp>
        <p:nvSpPr>
          <p:cNvPr id="9" name="callout dot 2"/>
          <p:cNvSpPr/>
          <p:nvPr/>
        </p:nvSpPr>
        <p:spPr>
          <a:xfrm>
            <a:off x="438912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0" name="callout n 2"/>
          <p:cNvSpPr txBox="1"/>
          <p:nvPr/>
        </p:nvSpPr>
        <p:spPr>
          <a:xfrm>
            <a:off x="438912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llout head 2"/>
          <p:cNvSpPr txBox="1"/>
          <p:nvPr/>
        </p:nvSpPr>
        <p:spPr>
          <a:xfrm>
            <a:off x="484632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Two owners, three products each</a:t>
            </a:r>
            <a:endParaRPr lang="en-US" sz="1500" dirty="0"/>
          </a:p>
        </p:txBody>
      </p:sp>
      <p:sp>
        <p:nvSpPr>
          <p:cNvPr id="12" name="callout body 2"/>
          <p:cNvSpPr txBox="1"/>
          <p:nvPr/>
        </p:nvSpPr>
        <p:spPr>
          <a:xfrm>
            <a:off x="4846320" y="544034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Price data routes to Younis, corporate actions and the trading book to Jose. The tag decides.</a:t>
            </a:r>
            <a:endParaRPr lang="en-US" sz="1300" dirty="0"/>
          </a:p>
        </p:txBody>
      </p:sp>
      <p:sp>
        <p:nvSpPr>
          <p:cNvPr id="13" name="callout dot 3"/>
          <p:cNvSpPr/>
          <p:nvPr/>
        </p:nvSpPr>
        <p:spPr>
          <a:xfrm>
            <a:off x="795528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4" name="callout n 3"/>
          <p:cNvSpPr txBox="1"/>
          <p:nvPr/>
        </p:nvSpPr>
        <p:spPr>
          <a:xfrm>
            <a:off x="795528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callout head 3"/>
          <p:cNvSpPr txBox="1"/>
          <p:nvPr/>
        </p:nvSpPr>
        <p:spPr>
          <a:xfrm>
            <a:off x="841248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Your access, live</a:t>
            </a:r>
            <a:endParaRPr lang="en-US" sz="1500" dirty="0"/>
          </a:p>
        </p:txBody>
      </p:sp>
      <p:sp>
        <p:nvSpPr>
          <p:cNvPr id="16" name="callout body 3"/>
          <p:cNvSpPr txBox="1"/>
          <p:nvPr/>
        </p:nvSpPr>
        <p:spPr>
          <a:xfrm>
            <a:off x="8412480" y="5440346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Granted, pending, rejected or none, from the request log. Once granted: query it, or download a CSV.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Requesting access: one card, one reason</a:t>
            </a:r>
            <a:endParaRPr lang="en-US" sz="3200" dirty="0"/>
          </a:p>
        </p:txBody>
      </p:sp>
      <p:sp>
        <p:nvSpPr>
          <p:cNvPr id="3" name="card frame"/>
          <p:cNvSpPr/>
          <p:nvPr/>
        </p:nvSpPr>
        <p:spPr>
          <a:xfrm>
            <a:off x="786384" y="1426464"/>
            <a:ext cx="6788506" cy="4736592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</p:spPr>
      </p:sp>
      <p:pic>
        <p:nvPicPr>
          <p:cNvPr id="4" name="request card screenshot" descr="/private/tmp/claude-501/-Users-yo84/972981a2-2672-4baf-8bfb-564a2e546510/scratchpad/deck/shot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6715354" cy="4663440"/>
          </a:xfrm>
          <a:prstGeom prst="rect">
            <a:avLst/>
          </a:prstGeom>
        </p:spPr>
      </p:pic>
      <p:sp>
        <p:nvSpPr>
          <p:cNvPr id="5" name="callout dot 1"/>
          <p:cNvSpPr/>
          <p:nvPr/>
        </p:nvSpPr>
        <p:spPr>
          <a:xfrm>
            <a:off x="7995514" y="157276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6" name="callout n 1"/>
          <p:cNvSpPr txBox="1"/>
          <p:nvPr/>
        </p:nvSpPr>
        <p:spPr>
          <a:xfrm>
            <a:off x="7995514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callout head 1"/>
          <p:cNvSpPr txBox="1"/>
          <p:nvPr/>
        </p:nvSpPr>
        <p:spPr>
          <a:xfrm>
            <a:off x="8452714" y="155448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The price is the hero</a:t>
            </a:r>
            <a:endParaRPr lang="en-US" sz="1500" dirty="0"/>
          </a:p>
        </p:txBody>
      </p:sp>
      <p:sp>
        <p:nvSpPr>
          <p:cNvPr id="8" name="callout body 1"/>
          <p:cNvSpPr txBox="1"/>
          <p:nvPr/>
        </p:nvSpPr>
        <p:spPr>
          <a:xfrm>
            <a:off x="8452714" y="192024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£120 per user per month, read from the licence_cost_gbp tag. Every yes is a spend decision.</a:t>
            </a:r>
            <a:endParaRPr lang="en-US" sz="1300" dirty="0"/>
          </a:p>
        </p:txBody>
      </p:sp>
      <p:sp>
        <p:nvSpPr>
          <p:cNvPr id="9" name="callout dot 2"/>
          <p:cNvSpPr/>
          <p:nvPr/>
        </p:nvSpPr>
        <p:spPr>
          <a:xfrm>
            <a:off x="7995514" y="276148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0" name="callout n 2"/>
          <p:cNvSpPr txBox="1"/>
          <p:nvPr/>
        </p:nvSpPr>
        <p:spPr>
          <a:xfrm>
            <a:off x="7995514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llout head 2"/>
          <p:cNvSpPr txBox="1"/>
          <p:nvPr/>
        </p:nvSpPr>
        <p:spPr>
          <a:xfrm>
            <a:off x="8452714" y="274320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A reason is required</a:t>
            </a:r>
            <a:endParaRPr lang="en-US" sz="1500" dirty="0"/>
          </a:p>
        </p:txBody>
      </p:sp>
      <p:sp>
        <p:nvSpPr>
          <p:cNvPr id="12" name="callout body 2"/>
          <p:cNvSpPr txBox="1"/>
          <p:nvPr/>
        </p:nvSpPr>
        <p:spPr>
          <a:xfrm>
            <a:off x="8452714" y="310896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The owner reads it before deciding. An AI classifier flags vague reasons so the owner sees that too.</a:t>
            </a:r>
            <a:endParaRPr lang="en-US" sz="1300" dirty="0"/>
          </a:p>
        </p:txBody>
      </p:sp>
      <p:sp>
        <p:nvSpPr>
          <p:cNvPr id="13" name="callout dot 3"/>
          <p:cNvSpPr/>
          <p:nvPr/>
        </p:nvSpPr>
        <p:spPr>
          <a:xfrm>
            <a:off x="7995514" y="395020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4" name="callout n 3"/>
          <p:cNvSpPr txBox="1"/>
          <p:nvPr/>
        </p:nvSpPr>
        <p:spPr>
          <a:xfrm>
            <a:off x="7995514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callout head 3"/>
          <p:cNvSpPr txBox="1"/>
          <p:nvPr/>
        </p:nvSpPr>
        <p:spPr>
          <a:xfrm>
            <a:off x="8452714" y="393192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Where it is</a:t>
            </a:r>
            <a:endParaRPr lang="en-US" sz="1500" dirty="0"/>
          </a:p>
        </p:txBody>
      </p:sp>
      <p:sp>
        <p:nvSpPr>
          <p:cNvPr id="16" name="callout body 3"/>
          <p:cNvSpPr txBox="1"/>
          <p:nvPr/>
        </p:nvSpPr>
        <p:spPr>
          <a:xfrm>
            <a:off x="8452714" y="429768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Request, owner review, access granted: the tracker fills as the owner acts.</a:t>
            </a:r>
            <a:endParaRPr lang="en-US" sz="1300" dirty="0"/>
          </a:p>
        </p:txBody>
      </p:sp>
      <p:sp>
        <p:nvSpPr>
          <p:cNvPr id="17" name="callout dot 4"/>
          <p:cNvSpPr/>
          <p:nvPr/>
        </p:nvSpPr>
        <p:spPr>
          <a:xfrm>
            <a:off x="7995514" y="513892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8" name="callout n 4"/>
          <p:cNvSpPr txBox="1"/>
          <p:nvPr/>
        </p:nvSpPr>
        <p:spPr>
          <a:xfrm>
            <a:off x="7995514" y="5138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callout head 4"/>
          <p:cNvSpPr txBox="1"/>
          <p:nvPr/>
        </p:nvSpPr>
        <p:spPr>
          <a:xfrm>
            <a:off x="8452714" y="512064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A22"/>
                </a:solidFill>
              </a:rPr>
              <a:t>Nothing hard-coded</a:t>
            </a:r>
            <a:endParaRPr lang="en-US" sz="1500" dirty="0"/>
          </a:p>
        </p:txBody>
      </p:sp>
      <p:sp>
        <p:nvSpPr>
          <p:cNvPr id="20" name="callout body 4"/>
          <p:cNvSpPr txBox="1"/>
          <p:nvPr/>
        </p:nvSpPr>
        <p:spPr>
          <a:xfrm>
            <a:off x="8452714" y="5486400"/>
            <a:ext cx="288584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Owner, cost, sensitivity and the table itself come from Unity Catalog. The app only reads.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Under the hood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822960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step no 1"/>
          <p:cNvSpPr txBox="1"/>
          <p:nvPr/>
        </p:nvSpPr>
        <p:spPr>
          <a:xfrm>
            <a:off x="10515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step head 1"/>
          <p:cNvSpPr txBox="1"/>
          <p:nvPr/>
        </p:nvSpPr>
        <p:spPr>
          <a:xfrm>
            <a:off x="105156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Analyst asks</a:t>
            </a:r>
            <a:endParaRPr lang="en-US" sz="1600" dirty="0"/>
          </a:p>
        </p:txBody>
      </p:sp>
      <p:sp>
        <p:nvSpPr>
          <p:cNvPr id="6" name="step body 1"/>
          <p:cNvSpPr txBox="1"/>
          <p:nvPr/>
        </p:nvSpPr>
        <p:spPr>
          <a:xfrm>
            <a:off x="1051560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Picks a table, gives a reason</a:t>
            </a:r>
            <a:endParaRPr lang="en-US" sz="1200" dirty="0"/>
          </a:p>
        </p:txBody>
      </p:sp>
      <p:sp>
        <p:nvSpPr>
          <p:cNvPr id="7" name="step 2"/>
          <p:cNvSpPr/>
          <p:nvPr/>
        </p:nvSpPr>
        <p:spPr>
          <a:xfrm>
            <a:off x="2944368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step no 2"/>
          <p:cNvSpPr txBox="1"/>
          <p:nvPr/>
        </p:nvSpPr>
        <p:spPr>
          <a:xfrm>
            <a:off x="317296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 head 2"/>
          <p:cNvSpPr txBox="1"/>
          <p:nvPr/>
        </p:nvSpPr>
        <p:spPr>
          <a:xfrm>
            <a:off x="3172968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Owner from the tag</a:t>
            </a:r>
            <a:endParaRPr lang="en-US" sz="1600" dirty="0"/>
          </a:p>
        </p:txBody>
      </p:sp>
      <p:sp>
        <p:nvSpPr>
          <p:cNvPr id="10" name="step body 2"/>
          <p:cNvSpPr txBox="1"/>
          <p:nvPr/>
        </p:nvSpPr>
        <p:spPr>
          <a:xfrm>
            <a:off x="3172968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data_owner on the table, not a config file</a:t>
            </a:r>
            <a:endParaRPr lang="en-US" sz="1200" dirty="0"/>
          </a:p>
        </p:txBody>
      </p:sp>
      <p:sp>
        <p:nvSpPr>
          <p:cNvPr id="11" name="step 3"/>
          <p:cNvSpPr/>
          <p:nvPr/>
        </p:nvSpPr>
        <p:spPr>
          <a:xfrm>
            <a:off x="5065776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step no 3"/>
          <p:cNvSpPr txBox="1"/>
          <p:nvPr/>
        </p:nvSpPr>
        <p:spPr>
          <a:xfrm>
            <a:off x="5294376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step head 3"/>
          <p:cNvSpPr txBox="1"/>
          <p:nvPr/>
        </p:nvSpPr>
        <p:spPr>
          <a:xfrm>
            <a:off x="5294376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Owner decides</a:t>
            </a:r>
            <a:endParaRPr lang="en-US" sz="1600" dirty="0"/>
          </a:p>
        </p:txBody>
      </p:sp>
      <p:sp>
        <p:nvSpPr>
          <p:cNvPr id="14" name="step body 3"/>
          <p:cNvSpPr txBox="1"/>
          <p:nvPr/>
        </p:nvSpPr>
        <p:spPr>
          <a:xfrm>
            <a:off x="5294376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Sees the £, the reason, the sensitivity</a:t>
            </a:r>
            <a:endParaRPr lang="en-US" sz="1200" dirty="0"/>
          </a:p>
        </p:txBody>
      </p:sp>
      <p:sp>
        <p:nvSpPr>
          <p:cNvPr id="15" name="step 4"/>
          <p:cNvSpPr/>
          <p:nvPr/>
        </p:nvSpPr>
        <p:spPr>
          <a:xfrm>
            <a:off x="7187184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6" name="step no 4"/>
          <p:cNvSpPr txBox="1"/>
          <p:nvPr/>
        </p:nvSpPr>
        <p:spPr>
          <a:xfrm>
            <a:off x="7415784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step head 4"/>
          <p:cNvSpPr txBox="1"/>
          <p:nvPr/>
        </p:nvSpPr>
        <p:spPr>
          <a:xfrm>
            <a:off x="7415784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Real grant</a:t>
            </a:r>
            <a:endParaRPr lang="en-US" sz="1600" dirty="0"/>
          </a:p>
        </p:txBody>
      </p:sp>
      <p:sp>
        <p:nvSpPr>
          <p:cNvPr id="18" name="step body 4"/>
          <p:cNvSpPr txBox="1"/>
          <p:nvPr/>
        </p:nvSpPr>
        <p:spPr>
          <a:xfrm>
            <a:off x="7415784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GRANT SELECT in Unity Catalog, or a reject with a note</a:t>
            </a:r>
            <a:endParaRPr lang="en-US" sz="1200" dirty="0"/>
          </a:p>
        </p:txBody>
      </p:sp>
      <p:sp>
        <p:nvSpPr>
          <p:cNvPr id="19" name="step 5"/>
          <p:cNvSpPr/>
          <p:nvPr/>
        </p:nvSpPr>
        <p:spPr>
          <a:xfrm>
            <a:off x="9308592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0" name="step no 5"/>
          <p:cNvSpPr txBox="1"/>
          <p:nvPr/>
        </p:nvSpPr>
        <p:spPr>
          <a:xfrm>
            <a:off x="95371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step head 5"/>
          <p:cNvSpPr txBox="1"/>
          <p:nvPr/>
        </p:nvSpPr>
        <p:spPr>
          <a:xfrm>
            <a:off x="9537192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</a:rPr>
              <a:t>Queue and receipt</a:t>
            </a:r>
            <a:endParaRPr lang="en-US" sz="1600" dirty="0"/>
          </a:p>
        </p:txBody>
      </p:sp>
      <p:sp>
        <p:nvSpPr>
          <p:cNvPr id="22" name="step body 5"/>
          <p:cNvSpPr txBox="1"/>
          <p:nvPr/>
        </p:nvSpPr>
        <p:spPr>
          <a:xfrm>
            <a:off x="9537192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One table holds every step; Genie answers questions on it</a:t>
            </a:r>
            <a:endParaRPr lang="en-US" sz="1200" dirty="0"/>
          </a:p>
        </p:txBody>
      </p:sp>
      <p:sp>
        <p:nvSpPr>
          <p:cNvPr id="23" name="panel Runs as the signed-in user"/>
          <p:cNvSpPr/>
          <p:nvPr/>
        </p:nvSpPr>
        <p:spPr>
          <a:xfrm>
            <a:off x="822960" y="4572000"/>
            <a:ext cx="10515600" cy="1554480"/>
          </a:xfrm>
          <a:prstGeom prst="roundRect">
            <a:avLst>
              <a:gd name="adj" fmla="val 823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4" name="panel head Runs as the signed-in user"/>
          <p:cNvSpPr txBox="1"/>
          <p:nvPr/>
        </p:nvSpPr>
        <p:spPr>
          <a:xfrm>
            <a:off x="1097280" y="48006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Runs as the signed-in user</a:t>
            </a:r>
            <a:endParaRPr lang="en-US" sz="1800" dirty="0"/>
          </a:p>
        </p:txBody>
      </p:sp>
      <p:sp>
        <p:nvSpPr>
          <p:cNvPr id="25" name="panel body Runs as the signed-in user"/>
          <p:cNvSpPr txBox="1"/>
          <p:nvPr/>
        </p:nvSpPr>
        <p:spPr>
          <a:xfrm>
            <a:off x="1097280" y="55778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The app forwards each user's own Databricks identity to the SQL warehouse. A person's rights in Doorman are exactly their rights in Unity Catalog; the app never flips a flag of its own. Denied before, rows after.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Governed by default, and how we know</a:t>
            </a:r>
            <a:endParaRPr lang="en-US" sz="3200" dirty="0"/>
          </a:p>
        </p:txBody>
      </p:sp>
      <p:sp>
        <p:nvSpPr>
          <p:cNvPr id="3" name="panel The catalogue is the tags"/>
          <p:cNvSpPr/>
          <p:nvPr/>
        </p:nvSpPr>
        <p:spPr>
          <a:xfrm>
            <a:off x="822960" y="155448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The catalogue is the tags"/>
          <p:cNvSpPr txBox="1"/>
          <p:nvPr/>
        </p:nvSpPr>
        <p:spPr>
          <a:xfrm>
            <a:off x="1097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The catalogue is the tags</a:t>
            </a:r>
            <a:endParaRPr lang="en-US" sz="1800" dirty="0"/>
          </a:p>
        </p:txBody>
      </p:sp>
      <p:sp>
        <p:nvSpPr>
          <p:cNvPr id="5" name="panel body The catalogue is the tags"/>
          <p:cNvSpPr txBox="1"/>
          <p:nvPr/>
        </p:nvSpPr>
        <p:spPr>
          <a:xfrm>
            <a:off x="109728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Requestable means: carries a data_owner tag. Reuse is one ALTER TABLE.</a:t>
            </a:r>
            <a:endParaRPr lang="en-US" sz="1500" dirty="0"/>
          </a:p>
        </p:txBody>
      </p:sp>
      <p:sp>
        <p:nvSpPr>
          <p:cNvPr id="6" name="panel Only the owner decides"/>
          <p:cNvSpPr/>
          <p:nvPr/>
        </p:nvSpPr>
        <p:spPr>
          <a:xfrm>
            <a:off x="4389120" y="155448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Only the owner decides"/>
          <p:cNvSpPr txBox="1"/>
          <p:nvPr/>
        </p:nvSpPr>
        <p:spPr>
          <a:xfrm>
            <a:off x="466344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Only the owner decides</a:t>
            </a:r>
            <a:endParaRPr lang="en-US" sz="1800" dirty="0"/>
          </a:p>
        </p:txBody>
      </p:sp>
      <p:sp>
        <p:nvSpPr>
          <p:cNvPr id="8" name="panel body Only the owner decides"/>
          <p:cNvSpPr txBox="1"/>
          <p:nvPr/>
        </p:nvSpPr>
        <p:spPr>
          <a:xfrm>
            <a:off x="466344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The approver comes from the tag at request time. Anyone else is refused by code, not by UI.</a:t>
            </a:r>
            <a:endParaRPr lang="en-US" sz="1500" dirty="0"/>
          </a:p>
        </p:txBody>
      </p:sp>
      <p:sp>
        <p:nvSpPr>
          <p:cNvPr id="9" name="panel Nothing is hidden"/>
          <p:cNvSpPr/>
          <p:nvPr/>
        </p:nvSpPr>
        <p:spPr>
          <a:xfrm>
            <a:off x="7955280" y="1554480"/>
            <a:ext cx="3383280" cy="2377440"/>
          </a:xfrm>
          <a:prstGeom prst="roundRect">
            <a:avLst>
              <a:gd name="adj" fmla="val 538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panel head Nothing is hidden"/>
          <p:cNvSpPr txBox="1"/>
          <p:nvPr/>
        </p:nvSpPr>
        <p:spPr>
          <a:xfrm>
            <a:off x="822960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451D1"/>
                </a:solidFill>
              </a:rPr>
              <a:t>Nothing is hidden</a:t>
            </a:r>
            <a:endParaRPr lang="en-US" sz="1800" dirty="0"/>
          </a:p>
        </p:txBody>
      </p:sp>
      <p:sp>
        <p:nvSpPr>
          <p:cNvPr id="11" name="panel body Nothing is hidden"/>
          <p:cNvSpPr txBox="1"/>
          <p:nvPr/>
        </p:nvSpPr>
        <p:spPr>
          <a:xfrm>
            <a:off x="8229600" y="2560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Reject needs a note the requester sees. A failed grant is recorded with its error. Revoke keeps the record.</a:t>
            </a:r>
            <a:endParaRPr lang="en-US" sz="1500" dirty="0"/>
          </a:p>
        </p:txBody>
      </p:sp>
      <p:sp>
        <p:nvSpPr>
          <p:cNvPr id="12" name="panel Proof it is real, shown live"/>
          <p:cNvSpPr/>
          <p:nvPr/>
        </p:nvSpPr>
        <p:spPr>
          <a:xfrm>
            <a:off x="822960" y="4206240"/>
            <a:ext cx="10515600" cy="192024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3" name="panel head Proof it is real, shown live"/>
          <p:cNvSpPr txBox="1"/>
          <p:nvPr/>
        </p:nvSpPr>
        <p:spPr>
          <a:xfrm>
            <a:off x="1097280" y="443484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8A4C"/>
                </a:solidFill>
              </a:rPr>
              <a:t>Proof it is real, shown live</a:t>
            </a:r>
            <a:endParaRPr lang="en-US" sz="1800" dirty="0"/>
          </a:p>
        </p:txBody>
      </p:sp>
      <p:sp>
        <p:nvSpPr>
          <p:cNvPr id="14" name="panel body Proof it is real, shown live"/>
          <p:cNvSpPr txBox="1"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SHOW GRANTS on the table lists the requester after approval and not before; the same query fails, then returns rows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A teammate tagged a new table mid-evening and it appeared in the catalogue with no deploy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41A22"/>
                </a:solidFill>
              </a:rPr>
              <a:t>Genie answers "what is our licence spend by table?" from the audit table alone; 39 automated tests; only governance.py can grant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What comes next</a:t>
            </a:r>
            <a:endParaRPr lang="en-US" sz="3200" dirty="0"/>
          </a:p>
        </p:txBody>
      </p:sp>
      <p:sp>
        <p:nvSpPr>
          <p:cNvPr id="3" name="panel Expiring access"/>
          <p:cNvSpPr/>
          <p:nvPr/>
        </p:nvSpPr>
        <p:spPr>
          <a:xfrm>
            <a:off x="82296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Expiring access"/>
          <p:cNvSpPr txBox="1"/>
          <p:nvPr/>
        </p:nvSpPr>
        <p:spPr>
          <a:xfrm>
            <a:off x="1097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Expiring access</a:t>
            </a:r>
            <a:endParaRPr lang="en-US" sz="1800" dirty="0"/>
          </a:p>
        </p:txBody>
      </p:sp>
      <p:sp>
        <p:nvSpPr>
          <p:cNvPr id="5" name="panel body Expiring access"/>
          <p:cNvSpPr txBox="1"/>
          <p:nvPr/>
        </p:nvSpPr>
        <p:spPr>
          <a:xfrm>
            <a:off x="109728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Grants with an end date and a scheduled revoke, so entitlements never outlive the project.</a:t>
            </a:r>
            <a:endParaRPr lang="en-US" sz="1500" dirty="0"/>
          </a:p>
        </p:txBody>
      </p:sp>
      <p:sp>
        <p:nvSpPr>
          <p:cNvPr id="6" name="panel Notify the owner"/>
          <p:cNvSpPr/>
          <p:nvPr/>
        </p:nvSpPr>
        <p:spPr>
          <a:xfrm>
            <a:off x="438912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Notify the owner"/>
          <p:cNvSpPr txBox="1"/>
          <p:nvPr/>
        </p:nvSpPr>
        <p:spPr>
          <a:xfrm>
            <a:off x="466344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Notify the owner</a:t>
            </a:r>
            <a:endParaRPr lang="en-US" sz="1800" dirty="0"/>
          </a:p>
        </p:txBody>
      </p:sp>
      <p:sp>
        <p:nvSpPr>
          <p:cNvPr id="8" name="panel body Notify the owner"/>
          <p:cNvSpPr txBox="1"/>
          <p:nvPr/>
        </p:nvSpPr>
        <p:spPr>
          <a:xfrm>
            <a:off x="466344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Teams or email on request and on decision; the queue comes to you.</a:t>
            </a:r>
            <a:endParaRPr lang="en-US" sz="1500" dirty="0"/>
          </a:p>
        </p:txBody>
      </p:sp>
      <p:sp>
        <p:nvSpPr>
          <p:cNvPr id="9" name="panel Chargeback"/>
          <p:cNvSpPr/>
          <p:nvPr/>
        </p:nvSpPr>
        <p:spPr>
          <a:xfrm>
            <a:off x="795528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panel head Chargeback"/>
          <p:cNvSpPr txBox="1"/>
          <p:nvPr/>
        </p:nvSpPr>
        <p:spPr>
          <a:xfrm>
            <a:off x="822960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Chargeback</a:t>
            </a:r>
            <a:endParaRPr lang="en-US" sz="1800" dirty="0"/>
          </a:p>
        </p:txBody>
      </p:sp>
      <p:sp>
        <p:nvSpPr>
          <p:cNvPr id="11" name="panel body Chargeback"/>
          <p:cNvSpPr txBox="1"/>
          <p:nvPr/>
        </p:nvSpPr>
        <p:spPr>
          <a:xfrm>
            <a:off x="822960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A22"/>
                </a:solidFill>
              </a:rPr>
              <a:t>Licence spend by desk and cost centre, straight from the audit table.</a:t>
            </a:r>
            <a:endParaRPr lang="en-US" sz="1500" dirty="0"/>
          </a:p>
        </p:txBody>
      </p:sp>
      <p:sp>
        <p:nvSpPr>
          <p:cNvPr id="12" name="team head"/>
          <p:cNvSpPr txBox="1"/>
          <p:nvPr/>
        </p:nvSpPr>
        <p:spPr>
          <a:xfrm>
            <a:off x="82296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A22"/>
                </a:solidFill>
              </a:rPr>
              <a:t>Team Sierra</a:t>
            </a:r>
            <a:endParaRPr lang="en-US" sz="2000" dirty="0"/>
          </a:p>
        </p:txBody>
      </p:sp>
      <p:sp>
        <p:nvSpPr>
          <p:cNvPr id="13" name="team body"/>
          <p:cNvSpPr txBox="1"/>
          <p:nvPr/>
        </p:nvSpPr>
        <p:spPr>
          <a:xfrm>
            <a:off x="822960" y="4800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Jose and Malik, front end  ·  Younis and Patrick, data, governance and platform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Databricks Apps, Unity Catalog, Genie, ai_classify. Built with Codex and Claude Code.</a:t>
            </a:r>
            <a:endParaRPr lang="en-US" sz="1400" dirty="0"/>
          </a:p>
        </p:txBody>
      </p:sp>
      <p:sp>
        <p:nvSpPr>
          <p:cNvPr id="14" name="repo"/>
          <p:cNvSpPr txBox="1"/>
          <p:nvPr/>
        </p:nvSpPr>
        <p:spPr>
          <a:xfrm>
            <a:off x="82296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451D1"/>
                </a:solidFill>
              </a:rPr>
              <a:t>github.com/younis-y/desk-data-access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orman Light">
  <a:themeElements>
    <a:clrScheme name="Doorman Light">
      <a:dk1>
        <a:srgbClr val="141A22"/>
      </a:dk1>
      <a:lt1>
        <a:srgbClr val="FFFFFF"/>
      </a:lt1>
      <a:dk2>
        <a:srgbClr val="2B3442"/>
      </a:dk2>
      <a:lt2>
        <a:srgbClr val="F3F5F9"/>
      </a:lt2>
      <a:accent1>
        <a:srgbClr val="3451D1"/>
      </a:accent1>
      <a:accent2>
        <a:srgbClr val="6B7280"/>
      </a:accent2>
      <a:accent3>
        <a:srgbClr val="1B8A4C"/>
      </a:accent3>
      <a:accent4>
        <a:srgbClr val="B7791F"/>
      </a:accent4>
      <a:accent5>
        <a:srgbClr val="C0392B"/>
      </a:accent5>
      <a:accent6>
        <a:srgbClr val="DDE2EA"/>
      </a:accent6>
      <a:hlink>
        <a:srgbClr val="3451D1"/>
      </a:hlink>
      <a:folHlink>
        <a:srgbClr val="3451D1"/>
      </a:folHlink>
    </a:clrScheme>
    <a:fontScheme name="Doorman Ligh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Doorman</dc:title>
  <dc:subject>PptxGenJS Presentation</dc:subject>
  <dc:creator>Team Sierra</dc:creator>
  <cp:lastModifiedBy>Team Sierra</cp:lastModifiedBy>
  <cp:revision>1</cp:revision>
  <dcterms:created xsi:type="dcterms:W3CDTF">2026-10-21T19:07:17Z</dcterms:created>
  <dcterms:modified xsi:type="dcterms:W3CDTF">2026-10-21T19:07:17Z</dcterms:modified>
</cp:coreProperties>
</file>