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9AABC3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BC3"/>
                </a:solidFill>
              </a:rPr>
              <a:t>Doorman  ·  Team Sierra  ·  Colibri Digital hackathon, 21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B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B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ck body"/>
          <p:cNvSpPr/>
          <p:nvPr/>
        </p:nvSpPr>
        <p:spPr>
          <a:xfrm>
            <a:off x="731520" y="1325880"/>
            <a:ext cx="1005840" cy="731520"/>
          </a:xfrm>
          <a:prstGeom prst="roundRect">
            <a:avLst>
              <a:gd name="adj" fmla="val 18750"/>
            </a:avLst>
          </a:prstGeom>
          <a:solidFill>
            <a:srgbClr val="0B1422"/>
          </a:solidFill>
          <a:ln w="27940">
            <a:solidFill>
              <a:srgbClr val="FFFFFF"/>
            </a:solidFill>
            <a:prstDash val="solid"/>
          </a:ln>
        </p:spPr>
      </p:sp>
      <p:sp>
        <p:nvSpPr>
          <p:cNvPr id="3" name="lock shackle"/>
          <p:cNvSpPr/>
          <p:nvPr/>
        </p:nvSpPr>
        <p:spPr>
          <a:xfrm>
            <a:off x="960120" y="868680"/>
            <a:ext cx="548640" cy="685800"/>
          </a:xfrm>
          <a:prstGeom prst="arc">
            <a:avLst>
              <a:gd name="adj1" fmla="val 10800000"/>
              <a:gd name="adj2" fmla="val 21600000"/>
            </a:avLst>
          </a:prstGeom>
          <a:noFill/>
          <a:ln w="27940">
            <a:solidFill>
              <a:srgbClr val="FFFFFF"/>
            </a:solidFill>
            <a:prstDash val="solid"/>
          </a:ln>
        </p:spPr>
      </p:sp>
      <p:sp>
        <p:nvSpPr>
          <p:cNvPr id="4" name="keyhole"/>
          <p:cNvSpPr/>
          <p:nvPr/>
        </p:nvSpPr>
        <p:spPr>
          <a:xfrm>
            <a:off x="1161288" y="161848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Doorman</a:t>
            </a:r>
            <a:endParaRPr lang="en-US" sz="6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4747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dirty="0">
                <a:solidFill>
                  <a:srgbClr val="9AABC3"/>
                </a:solidFill>
              </a:rPr>
              <a:t>A governed front door for market data on a trading desk.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9AABC3"/>
                </a:solidFill>
              </a:rPr>
              <a:t>Ask. Approve. Granted, for real, and on the record.</a:t>
            </a:r>
            <a:endParaRPr lang="en-US" sz="2400" dirty="0"/>
          </a:p>
        </p:txBody>
      </p:sp>
      <p:sp>
        <p:nvSpPr>
          <p:cNvPr id="7" name="cover footer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C3"/>
                </a:solidFill>
              </a:rPr>
              <a:t>Team Sierra  ·  Colibri Digital hackathon, Track 3  ·  21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Getting data on a desk is a ticket and an email chain</a:t>
            </a:r>
            <a:endParaRPr lang="en-US" sz="3400" dirty="0"/>
          </a:p>
        </p:txBody>
      </p:sp>
      <p:sp>
        <p:nvSpPr>
          <p:cNvPr id="3" name="card What analysts want"/>
          <p:cNvSpPr/>
          <p:nvPr/>
        </p:nvSpPr>
        <p:spPr>
          <a:xfrm>
            <a:off x="731520" y="164592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4" name="card head What analysts want"/>
          <p:cNvSpPr txBox="1"/>
          <p:nvPr/>
        </p:nvSpPr>
        <p:spPr>
          <a:xfrm>
            <a:off x="1005840" y="1874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analysts want</a:t>
            </a:r>
            <a:endParaRPr lang="en-US" sz="1800" dirty="0"/>
          </a:p>
        </p:txBody>
      </p:sp>
      <p:sp>
        <p:nvSpPr>
          <p:cNvPr id="5" name="card body What analysts want"/>
          <p:cNvSpPr txBox="1"/>
          <p:nvPr/>
        </p:nvSpPr>
        <p:spPr>
          <a:xfrm>
            <a:off x="1005840" y="269748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Data today, not after a backlog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To ask once, with a reason, and see where it 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No tooling they are not allowed to use</a:t>
            </a:r>
            <a:endParaRPr lang="en-US" sz="1600" dirty="0"/>
          </a:p>
        </p:txBody>
      </p:sp>
      <p:sp>
        <p:nvSpPr>
          <p:cNvPr id="6" name="card What the desk needs"/>
          <p:cNvSpPr/>
          <p:nvPr/>
        </p:nvSpPr>
        <p:spPr>
          <a:xfrm>
            <a:off x="6309360" y="164592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7" name="card head What the desk needs"/>
          <p:cNvSpPr txBox="1"/>
          <p:nvPr/>
        </p:nvSpPr>
        <p:spPr>
          <a:xfrm>
            <a:off x="6583680" y="1874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the desk needs</a:t>
            </a:r>
            <a:endParaRPr lang="en-US" sz="1800" dirty="0"/>
          </a:p>
        </p:txBody>
      </p:sp>
      <p:sp>
        <p:nvSpPr>
          <p:cNvPr id="8" name="card body What the desk needs"/>
          <p:cNvSpPr txBox="1"/>
          <p:nvPr/>
        </p:nvSpPr>
        <p:spPr>
          <a:xfrm>
            <a:off x="6583680" y="269748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An owner for every table, and a decision on record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Licence cost known before the yes: price feeds are billed per user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Confidential tables (positions) never opened by accident</a:t>
            </a:r>
            <a:endParaRPr lang="en-US" sz="1600" dirty="0"/>
          </a:p>
        </p:txBody>
      </p:sp>
      <p:sp>
        <p:nvSpPr>
          <p:cNvPr id="9" name="stat"/>
          <p:cNvSpPr txBox="1"/>
          <p:nvPr/>
        </p:nvSpPr>
        <p:spPr>
          <a:xfrm>
            <a:off x="731520" y="5212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D7EFF"/>
                </a:solidFill>
              </a:rPr>
              <a:t>£120</a:t>
            </a:r>
            <a:endParaRPr lang="en-US" sz="4400" dirty="0"/>
          </a:p>
        </p:txBody>
      </p:sp>
      <p:sp>
        <p:nvSpPr>
          <p:cNvPr id="10" name="stat caption"/>
          <p:cNvSpPr txBox="1"/>
          <p:nvPr/>
        </p:nvSpPr>
        <p:spPr>
          <a:xfrm>
            <a:off x="2743200" y="5349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BC3"/>
                </a:solidFill>
              </a:rPr>
              <a:t>per user, per month, for one end-of-day price feed. Every approval is a spend decision.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B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731520" y="1920240"/>
            <a:ext cx="2066544" cy="2651760"/>
          </a:xfrm>
          <a:prstGeom prst="roundRect">
            <a:avLst>
              <a:gd name="adj" fmla="val 6195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4" name="step no 1"/>
          <p:cNvSpPr txBox="1"/>
          <p:nvPr/>
        </p:nvSpPr>
        <p:spPr>
          <a:xfrm>
            <a:off x="96012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EFF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step head 1"/>
          <p:cNvSpPr txBox="1"/>
          <p:nvPr/>
        </p:nvSpPr>
        <p:spPr>
          <a:xfrm>
            <a:off x="960120" y="246888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Analyst asks</a:t>
            </a:r>
            <a:endParaRPr lang="en-US" sz="1600" dirty="0"/>
          </a:p>
        </p:txBody>
      </p:sp>
      <p:sp>
        <p:nvSpPr>
          <p:cNvPr id="6" name="step body 1"/>
          <p:cNvSpPr txBox="1"/>
          <p:nvPr/>
        </p:nvSpPr>
        <p:spPr>
          <a:xfrm>
            <a:off x="960120" y="3291840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AF4"/>
                </a:solidFill>
              </a:rPr>
              <a:t>Picks a table in the app, gives a reason</a:t>
            </a:r>
            <a:endParaRPr lang="en-US" sz="1200" dirty="0"/>
          </a:p>
        </p:txBody>
      </p:sp>
      <p:sp>
        <p:nvSpPr>
          <p:cNvPr id="7" name="arrow 1"/>
          <p:cNvSpPr txBox="1"/>
          <p:nvPr/>
        </p:nvSpPr>
        <p:spPr>
          <a:xfrm>
            <a:off x="2779776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BC3"/>
                </a:solidFill>
              </a:rPr>
              <a:t>›</a:t>
            </a:r>
            <a:endParaRPr lang="en-US" sz="2000" dirty="0"/>
          </a:p>
        </p:txBody>
      </p:sp>
      <p:sp>
        <p:nvSpPr>
          <p:cNvPr id="8" name="step 2"/>
          <p:cNvSpPr/>
          <p:nvPr/>
        </p:nvSpPr>
        <p:spPr>
          <a:xfrm>
            <a:off x="2944368" y="1920240"/>
            <a:ext cx="2066544" cy="2651760"/>
          </a:xfrm>
          <a:prstGeom prst="roundRect">
            <a:avLst>
              <a:gd name="adj" fmla="val 6195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9" name="step no 2"/>
          <p:cNvSpPr txBox="1"/>
          <p:nvPr/>
        </p:nvSpPr>
        <p:spPr>
          <a:xfrm>
            <a:off x="3172968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E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step head 2"/>
          <p:cNvSpPr txBox="1"/>
          <p:nvPr/>
        </p:nvSpPr>
        <p:spPr>
          <a:xfrm>
            <a:off x="3172968" y="246888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Owner found from the tag</a:t>
            </a:r>
            <a:endParaRPr lang="en-US" sz="1600" dirty="0"/>
          </a:p>
        </p:txBody>
      </p:sp>
      <p:sp>
        <p:nvSpPr>
          <p:cNvPr id="11" name="step body 2"/>
          <p:cNvSpPr txBox="1"/>
          <p:nvPr/>
        </p:nvSpPr>
        <p:spPr>
          <a:xfrm>
            <a:off x="3172968" y="3291840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AF4"/>
                </a:solidFill>
              </a:rPr>
              <a:t>data_owner on the table in Unity Catalog, not a config file</a:t>
            </a:r>
            <a:endParaRPr lang="en-US" sz="1200" dirty="0"/>
          </a:p>
        </p:txBody>
      </p:sp>
      <p:sp>
        <p:nvSpPr>
          <p:cNvPr id="12" name="arrow 2"/>
          <p:cNvSpPr txBox="1"/>
          <p:nvPr/>
        </p:nvSpPr>
        <p:spPr>
          <a:xfrm>
            <a:off x="4992624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BC3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step 3"/>
          <p:cNvSpPr/>
          <p:nvPr/>
        </p:nvSpPr>
        <p:spPr>
          <a:xfrm>
            <a:off x="5157216" y="1920240"/>
            <a:ext cx="2066544" cy="2651760"/>
          </a:xfrm>
          <a:prstGeom prst="roundRect">
            <a:avLst>
              <a:gd name="adj" fmla="val 6195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14" name="step no 3"/>
          <p:cNvSpPr txBox="1"/>
          <p:nvPr/>
        </p:nvSpPr>
        <p:spPr>
          <a:xfrm>
            <a:off x="5385816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E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step head 3"/>
          <p:cNvSpPr txBox="1"/>
          <p:nvPr/>
        </p:nvSpPr>
        <p:spPr>
          <a:xfrm>
            <a:off x="5385816" y="246888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Owner sees £ and decides</a:t>
            </a:r>
            <a:endParaRPr lang="en-US" sz="1600" dirty="0"/>
          </a:p>
        </p:txBody>
      </p:sp>
      <p:sp>
        <p:nvSpPr>
          <p:cNvPr id="16" name="step body 3"/>
          <p:cNvSpPr txBox="1"/>
          <p:nvPr/>
        </p:nvSpPr>
        <p:spPr>
          <a:xfrm>
            <a:off x="5385816" y="3291840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AF4"/>
                </a:solidFill>
              </a:rPr>
              <a:t>Cost per month, sensitivity, the reason, a vague-reason flag</a:t>
            </a:r>
            <a:endParaRPr lang="en-US" sz="1200" dirty="0"/>
          </a:p>
        </p:txBody>
      </p:sp>
      <p:sp>
        <p:nvSpPr>
          <p:cNvPr id="17" name="arrow 3"/>
          <p:cNvSpPr txBox="1"/>
          <p:nvPr/>
        </p:nvSpPr>
        <p:spPr>
          <a:xfrm>
            <a:off x="7205472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BC3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tep 4"/>
          <p:cNvSpPr/>
          <p:nvPr/>
        </p:nvSpPr>
        <p:spPr>
          <a:xfrm>
            <a:off x="7370064" y="1920240"/>
            <a:ext cx="2066544" cy="2651760"/>
          </a:xfrm>
          <a:prstGeom prst="roundRect">
            <a:avLst>
              <a:gd name="adj" fmla="val 6195"/>
            </a:avLst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</p:sp>
      <p:sp>
        <p:nvSpPr>
          <p:cNvPr id="19" name="step no 4"/>
          <p:cNvSpPr txBox="1"/>
          <p:nvPr/>
        </p:nvSpPr>
        <p:spPr>
          <a:xfrm>
            <a:off x="7598664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step head 4"/>
          <p:cNvSpPr txBox="1"/>
          <p:nvPr/>
        </p:nvSpPr>
        <p:spPr>
          <a:xfrm>
            <a:off x="7598664" y="246888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 grant</a:t>
            </a:r>
            <a:endParaRPr lang="en-US" sz="1600" dirty="0"/>
          </a:p>
        </p:txBody>
      </p:sp>
      <p:sp>
        <p:nvSpPr>
          <p:cNvPr id="21" name="step body 4"/>
          <p:cNvSpPr txBox="1"/>
          <p:nvPr/>
        </p:nvSpPr>
        <p:spPr>
          <a:xfrm>
            <a:off x="7598664" y="3291840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Approve runs GRANT SELECT in Unity Catalog. Reject sends the note back</a:t>
            </a:r>
            <a:endParaRPr lang="en-US" sz="1200" dirty="0"/>
          </a:p>
        </p:txBody>
      </p:sp>
      <p:sp>
        <p:nvSpPr>
          <p:cNvPr id="22" name="arrow 4"/>
          <p:cNvSpPr txBox="1"/>
          <p:nvPr/>
        </p:nvSpPr>
        <p:spPr>
          <a:xfrm>
            <a:off x="9418320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BC3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step 5"/>
          <p:cNvSpPr/>
          <p:nvPr/>
        </p:nvSpPr>
        <p:spPr>
          <a:xfrm>
            <a:off x="9582912" y="1920240"/>
            <a:ext cx="2066544" cy="2651760"/>
          </a:xfrm>
          <a:prstGeom prst="roundRect">
            <a:avLst>
              <a:gd name="adj" fmla="val 6195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24" name="step no 5"/>
          <p:cNvSpPr txBox="1"/>
          <p:nvPr/>
        </p:nvSpPr>
        <p:spPr>
          <a:xfrm>
            <a:off x="9811512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E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step head 5"/>
          <p:cNvSpPr txBox="1"/>
          <p:nvPr/>
        </p:nvSpPr>
        <p:spPr>
          <a:xfrm>
            <a:off x="9811512" y="246888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One table, queue and receipt</a:t>
            </a:r>
            <a:endParaRPr lang="en-US" sz="1600" dirty="0"/>
          </a:p>
        </p:txBody>
      </p:sp>
      <p:sp>
        <p:nvSpPr>
          <p:cNvPr id="26" name="step body 5"/>
          <p:cNvSpPr txBox="1"/>
          <p:nvPr/>
        </p:nvSpPr>
        <p:spPr>
          <a:xfrm>
            <a:off x="9811512" y="3291840"/>
            <a:ext cx="1609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AF4"/>
                </a:solidFill>
              </a:rPr>
              <a:t>access_requests holds every step; Genie answers questions on it</a:t>
            </a:r>
            <a:endParaRPr lang="en-US" sz="1200" dirty="0"/>
          </a:p>
        </p:txBody>
      </p:sp>
      <p:sp>
        <p:nvSpPr>
          <p:cNvPr id="27" name="flow caption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BC3"/>
                </a:solidFill>
              </a:rPr>
              <a:t>The analyst's query is denied before, and returns rows after. The app never flips a flag of its own.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B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Governed by default, three rules</a:t>
            </a:r>
            <a:endParaRPr lang="en-US" sz="3400" dirty="0"/>
          </a:p>
        </p:txBody>
      </p:sp>
      <p:sp>
        <p:nvSpPr>
          <p:cNvPr id="3" name="card The catalogue is the tags"/>
          <p:cNvSpPr/>
          <p:nvPr/>
        </p:nvSpPr>
        <p:spPr>
          <a:xfrm>
            <a:off x="731520" y="164592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4" name="card head The catalogue is the tags"/>
          <p:cNvSpPr txBox="1"/>
          <p:nvPr/>
        </p:nvSpPr>
        <p:spPr>
          <a:xfrm>
            <a:off x="1005840" y="1874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7EFF"/>
                </a:solidFill>
              </a:rPr>
              <a:t>The catalogue is the tags</a:t>
            </a:r>
            <a:endParaRPr lang="en-US" sz="1800" dirty="0"/>
          </a:p>
        </p:txBody>
      </p:sp>
      <p:sp>
        <p:nvSpPr>
          <p:cNvPr id="5" name="card body The catalogue is the tags"/>
          <p:cNvSpPr txBox="1"/>
          <p:nvPr/>
        </p:nvSpPr>
        <p:spPr>
          <a:xfrm>
            <a:off x="1005840" y="26974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AF4"/>
                </a:solidFill>
              </a:rPr>
              <a:t>A table is requestable only if it carries a data_owner tag. Tag a table and it appears in the app. No code change. The same tags carry sensitivity and licence cost.</a:t>
            </a:r>
            <a:endParaRPr lang="en-US" sz="1600" dirty="0"/>
          </a:p>
        </p:txBody>
      </p:sp>
      <p:sp>
        <p:nvSpPr>
          <p:cNvPr id="6" name="card Only the owner decides"/>
          <p:cNvSpPr/>
          <p:nvPr/>
        </p:nvSpPr>
        <p:spPr>
          <a:xfrm>
            <a:off x="4370832" y="164592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7" name="card head Only the owner decides"/>
          <p:cNvSpPr txBox="1"/>
          <p:nvPr/>
        </p:nvSpPr>
        <p:spPr>
          <a:xfrm>
            <a:off x="4645152" y="1874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7EFF"/>
                </a:solidFill>
              </a:rPr>
              <a:t>Only the owner decides</a:t>
            </a:r>
            <a:endParaRPr lang="en-US" sz="1800" dirty="0"/>
          </a:p>
        </p:txBody>
      </p:sp>
      <p:sp>
        <p:nvSpPr>
          <p:cNvPr id="8" name="card body Only the owner decides"/>
          <p:cNvSpPr txBox="1"/>
          <p:nvPr/>
        </p:nvSpPr>
        <p:spPr>
          <a:xfrm>
            <a:off x="4645152" y="26974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AF4"/>
                </a:solidFill>
              </a:rPr>
              <a:t>The approver is read from the tag at request time; anyone else is refused. Approve is a real GRANT SELECT in Unity Catalog. Reject needs a note the requester sees.</a:t>
            </a:r>
            <a:endParaRPr lang="en-US" sz="1600" dirty="0"/>
          </a:p>
        </p:txBody>
      </p:sp>
      <p:sp>
        <p:nvSpPr>
          <p:cNvPr id="9" name="card One table is queue and receipt"/>
          <p:cNvSpPr/>
          <p:nvPr/>
        </p:nvSpPr>
        <p:spPr>
          <a:xfrm>
            <a:off x="8010144" y="1645920"/>
            <a:ext cx="3429000" cy="3566160"/>
          </a:xfrm>
          <a:prstGeom prst="roundRect">
            <a:avLst>
              <a:gd name="adj" fmla="val 3733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10" name="card head One table is queue and receipt"/>
          <p:cNvSpPr txBox="1"/>
          <p:nvPr/>
        </p:nvSpPr>
        <p:spPr>
          <a:xfrm>
            <a:off x="8284464" y="1874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7EFF"/>
                </a:solidFill>
              </a:rPr>
              <a:t>One table is queue and receipt</a:t>
            </a:r>
            <a:endParaRPr lang="en-US" sz="1800" dirty="0"/>
          </a:p>
        </p:txBody>
      </p:sp>
      <p:sp>
        <p:nvSpPr>
          <p:cNvPr id="11" name="card body One table is queue and receipt"/>
          <p:cNvSpPr txBox="1"/>
          <p:nvPr/>
        </p:nvSpPr>
        <p:spPr>
          <a:xfrm>
            <a:off x="8284464" y="2697480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AF4"/>
                </a:solidFill>
              </a:rPr>
              <a:t>access_requests holds every request. Pending rows are the queue, all rows are the audit trail. A failed grant is recorded with its error, never hidden.</a:t>
            </a:r>
            <a:endParaRPr lang="en-US" sz="1600" dirty="0"/>
          </a:p>
        </p:txBody>
      </p:sp>
      <p:sp>
        <p:nvSpPr>
          <p:cNvPr id="12" name="rules caption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BC3"/>
                </a:solidFill>
              </a:rPr>
              <a:t>The app runs SQL as the signed-in user: a person's rights in Doorman are exactly their rights in Unity Catalog.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B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we built in one evening</a:t>
            </a:r>
            <a:endParaRPr lang="en-US" sz="3400" dirty="0"/>
          </a:p>
        </p:txBody>
      </p:sp>
      <p:sp>
        <p:nvSpPr>
          <p:cNvPr id="3" name="card The product"/>
          <p:cNvSpPr/>
          <p:nvPr/>
        </p:nvSpPr>
        <p:spPr>
          <a:xfrm>
            <a:off x="731520" y="164592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4" name="card head The product"/>
          <p:cNvSpPr txBox="1"/>
          <p:nvPr/>
        </p:nvSpPr>
        <p:spPr>
          <a:xfrm>
            <a:off x="1005840" y="1874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product</a:t>
            </a:r>
            <a:endParaRPr lang="en-US" sz="1800" dirty="0"/>
          </a:p>
        </p:txBody>
      </p:sp>
      <p:sp>
        <p:nvSpPr>
          <p:cNvPr id="5" name="card body The product"/>
          <p:cNvSpPr txBox="1"/>
          <p:nvPr/>
        </p:nvSpPr>
        <p:spPr>
          <a:xfrm>
            <a:off x="1005840" y="269748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Databricks App, three pages: Catalogue, Approvals, Audit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Three real data products: EOD prices (Yahoo + Nasdaq, 60 names), positions, vendor faults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ai_classify flags a vague reason before the owner reads it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Genie space over two curated views: "who has access, and what does it cost us?"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Revoke with the record kept; every decision timestamped</a:t>
            </a:r>
            <a:endParaRPr lang="en-US" sz="1600" dirty="0"/>
          </a:p>
        </p:txBody>
      </p:sp>
      <p:sp>
        <p:nvSpPr>
          <p:cNvPr id="6" name="card Proof it is real"/>
          <p:cNvSpPr/>
          <p:nvPr/>
        </p:nvSpPr>
        <p:spPr>
          <a:xfrm>
            <a:off x="6309360" y="164592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7" name="card head Proof it is real"/>
          <p:cNvSpPr txBox="1"/>
          <p:nvPr/>
        </p:nvSpPr>
        <p:spPr>
          <a:xfrm>
            <a:off x="6583680" y="1874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Proof it is real</a:t>
            </a:r>
            <a:endParaRPr lang="en-US" sz="1800" dirty="0"/>
          </a:p>
        </p:txBody>
      </p:sp>
      <p:sp>
        <p:nvSpPr>
          <p:cNvPr id="8" name="card body Proof it is real"/>
          <p:cNvSpPr txBox="1"/>
          <p:nvPr/>
        </p:nvSpPr>
        <p:spPr>
          <a:xfrm>
            <a:off x="6583680" y="2697480"/>
            <a:ext cx="4572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SHOW GRANTS on the table lists the requester after approval, not before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A teammate tagged a new table mid-evening; it appeared with no deploy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Requests route to a second owner (vendor faults, owned by Jose) from the tag alone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4EAF4"/>
                </a:solidFill>
              </a:rPr>
              <a:t>39 automated tests; only governance.py can grant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B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comes next</a:t>
            </a:r>
            <a:endParaRPr lang="en-US" sz="3400" dirty="0"/>
          </a:p>
        </p:txBody>
      </p:sp>
      <p:sp>
        <p:nvSpPr>
          <p:cNvPr id="3" name="card Expiring access"/>
          <p:cNvSpPr/>
          <p:nvPr/>
        </p:nvSpPr>
        <p:spPr>
          <a:xfrm>
            <a:off x="731520" y="164592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4" name="card head Expiring access"/>
          <p:cNvSpPr txBox="1"/>
          <p:nvPr/>
        </p:nvSpPr>
        <p:spPr>
          <a:xfrm>
            <a:off x="1005840" y="1874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38A"/>
                </a:solidFill>
              </a:rPr>
              <a:t>Expiring access</a:t>
            </a:r>
            <a:endParaRPr lang="en-US" sz="1800" dirty="0"/>
          </a:p>
        </p:txBody>
      </p:sp>
      <p:sp>
        <p:nvSpPr>
          <p:cNvPr id="5" name="card body Expiring access"/>
          <p:cNvSpPr txBox="1"/>
          <p:nvPr/>
        </p:nvSpPr>
        <p:spPr>
          <a:xfrm>
            <a:off x="1005840" y="26974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AF4"/>
                </a:solidFill>
              </a:rPr>
              <a:t>Grants with an end date and a scheduled revoke, so entitlements never outlive the project.</a:t>
            </a:r>
            <a:endParaRPr lang="en-US" sz="1600" dirty="0"/>
          </a:p>
        </p:txBody>
      </p:sp>
      <p:sp>
        <p:nvSpPr>
          <p:cNvPr id="6" name="card Notify the owner"/>
          <p:cNvSpPr/>
          <p:nvPr/>
        </p:nvSpPr>
        <p:spPr>
          <a:xfrm>
            <a:off x="4370832" y="164592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7" name="card head Notify the owner"/>
          <p:cNvSpPr txBox="1"/>
          <p:nvPr/>
        </p:nvSpPr>
        <p:spPr>
          <a:xfrm>
            <a:off x="4645152" y="1874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38A"/>
                </a:solidFill>
              </a:rPr>
              <a:t>Notify the owner</a:t>
            </a:r>
            <a:endParaRPr lang="en-US" sz="1800" dirty="0"/>
          </a:p>
        </p:txBody>
      </p:sp>
      <p:sp>
        <p:nvSpPr>
          <p:cNvPr id="8" name="card body Notify the owner"/>
          <p:cNvSpPr txBox="1"/>
          <p:nvPr/>
        </p:nvSpPr>
        <p:spPr>
          <a:xfrm>
            <a:off x="4645152" y="26974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AF4"/>
                </a:solidFill>
              </a:rPr>
              <a:t>Teams or email on request and on decision; the queue should come to you.</a:t>
            </a:r>
            <a:endParaRPr lang="en-US" sz="1600" dirty="0"/>
          </a:p>
        </p:txBody>
      </p:sp>
      <p:sp>
        <p:nvSpPr>
          <p:cNvPr id="9" name="card Chargeback"/>
          <p:cNvSpPr/>
          <p:nvPr/>
        </p:nvSpPr>
        <p:spPr>
          <a:xfrm>
            <a:off x="8010144" y="1645920"/>
            <a:ext cx="3429000" cy="2377440"/>
          </a:xfrm>
          <a:prstGeom prst="roundRect">
            <a:avLst>
              <a:gd name="adj" fmla="val 5385"/>
            </a:avLst>
          </a:prstGeom>
          <a:solidFill>
            <a:srgbClr val="131F33"/>
          </a:solidFill>
          <a:ln w="12700">
            <a:solidFill>
              <a:srgbClr val="131F33"/>
            </a:solidFill>
            <a:prstDash val="solid"/>
          </a:ln>
        </p:spPr>
      </p:sp>
      <p:sp>
        <p:nvSpPr>
          <p:cNvPr id="10" name="card head Chargeback"/>
          <p:cNvSpPr txBox="1"/>
          <p:nvPr/>
        </p:nvSpPr>
        <p:spPr>
          <a:xfrm>
            <a:off x="8284464" y="1874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38A"/>
                </a:solidFill>
              </a:rPr>
              <a:t>Chargeback</a:t>
            </a:r>
            <a:endParaRPr lang="en-US" sz="1800" dirty="0"/>
          </a:p>
        </p:txBody>
      </p:sp>
      <p:sp>
        <p:nvSpPr>
          <p:cNvPr id="11" name="card body Chargeback"/>
          <p:cNvSpPr txBox="1"/>
          <p:nvPr/>
        </p:nvSpPr>
        <p:spPr>
          <a:xfrm>
            <a:off x="8284464" y="269748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EAF4"/>
                </a:solidFill>
              </a:rPr>
              <a:t>Licence spend by desk and cost centre, straight from the audit table.</a:t>
            </a:r>
            <a:endParaRPr lang="en-US" sz="1600" dirty="0"/>
          </a:p>
        </p:txBody>
      </p:sp>
      <p:sp>
        <p:nvSpPr>
          <p:cNvPr id="12" name="team head"/>
          <p:cNvSpPr txBox="1"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 Sierra</a:t>
            </a:r>
            <a:endParaRPr lang="en-US" sz="1800" dirty="0"/>
          </a:p>
        </p:txBody>
      </p:sp>
      <p:sp>
        <p:nvSpPr>
          <p:cNvPr id="13" name="team body"/>
          <p:cNvSpPr txBox="1"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BC3"/>
                </a:solidFill>
              </a:rPr>
              <a:t>Jose and Malik, front end  ·  Younis and Patrick, data, governance and platform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BC3"/>
                </a:solidFill>
              </a:rPr>
              <a:t>Built with Databricks Apps, Unity Catalog, Genie, Codex and Claude Code</a:t>
            </a:r>
            <a:endParaRPr lang="en-US" sz="1400" dirty="0"/>
          </a:p>
        </p:txBody>
      </p:sp>
      <p:sp>
        <p:nvSpPr>
          <p:cNvPr id="14" name="repo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7EFF"/>
                </a:solidFill>
              </a:rPr>
              <a:t>github.com/younis-y/desk-data-access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BC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orman">
  <a:themeElements>
    <a:clrScheme name="Doorman">
      <a:dk1>
        <a:srgbClr val="0B1422"/>
      </a:dk1>
      <a:lt1>
        <a:srgbClr val="FFFFFF"/>
      </a:lt1>
      <a:dk2>
        <a:srgbClr val="131F33"/>
      </a:dk2>
      <a:lt2>
        <a:srgbClr val="E4EAF4"/>
      </a:lt2>
      <a:accent1>
        <a:srgbClr val="3D7EFF"/>
      </a:accent1>
      <a:accent2>
        <a:srgbClr val="9AABC3"/>
      </a:accent2>
      <a:accent3>
        <a:srgbClr val="4CC38A"/>
      </a:accent3>
      <a:accent4>
        <a:srgbClr val="F2B65A"/>
      </a:accent4>
      <a:accent5>
        <a:srgbClr val="FF7A80"/>
      </a:accent5>
      <a:accent6>
        <a:srgbClr val="22324B"/>
      </a:accent6>
      <a:hlink>
        <a:srgbClr val="8DB4FF"/>
      </a:hlink>
      <a:folHlink>
        <a:srgbClr val="8DB4FF"/>
      </a:folHlink>
    </a:clrScheme>
    <a:fontScheme name="Doorma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Doorman</dc:title>
  <dc:subject>PptxGenJS Presentation</dc:subject>
  <dc:creator>Team Sierra</dc:creator>
  <cp:lastModifiedBy>Team Sierra</cp:lastModifiedBy>
  <cp:revision>1</cp:revision>
  <dcterms:created xsi:type="dcterms:W3CDTF">2026-10-21T18:46:32Z</dcterms:created>
  <dcterms:modified xsi:type="dcterms:W3CDTF">2026-10-21T18:46:32Z</dcterms:modified>
</cp:coreProperties>
</file>