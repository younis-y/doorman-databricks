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b="1" dirty="0">
                <a:solidFill>
                  <a:srgbClr val="141A22"/>
                </a:solidFill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03320"/>
            <a:ext cx="9601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rgbClr val="6B7280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41A2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82296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Doorman  ·  Team Sierra  ·  Colibri Digital hackathon, 21 October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ck body"/>
          <p:cNvSpPr/>
          <p:nvPr/>
        </p:nvSpPr>
        <p:spPr>
          <a:xfrm>
            <a:off x="822960" y="1442466"/>
            <a:ext cx="1056132" cy="76809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30480">
            <a:solidFill>
              <a:srgbClr val="3451D1"/>
            </a:solidFill>
            <a:prstDash val="solid"/>
          </a:ln>
        </p:spPr>
      </p:sp>
      <p:sp>
        <p:nvSpPr>
          <p:cNvPr id="3" name="lock shackle"/>
          <p:cNvSpPr/>
          <p:nvPr/>
        </p:nvSpPr>
        <p:spPr>
          <a:xfrm>
            <a:off x="1062990" y="962406"/>
            <a:ext cx="576072" cy="720090"/>
          </a:xfrm>
          <a:prstGeom prst="arc">
            <a:avLst>
              <a:gd name="adj1" fmla="val 10800000"/>
              <a:gd name="adj2" fmla="val 21600000"/>
            </a:avLst>
          </a:prstGeom>
          <a:noFill/>
          <a:ln w="30480">
            <a:solidFill>
              <a:srgbClr val="3451D1"/>
            </a:solidFill>
            <a:prstDash val="solid"/>
          </a:ln>
        </p:spPr>
      </p:sp>
      <p:sp>
        <p:nvSpPr>
          <p:cNvPr id="4" name="keyhole"/>
          <p:cNvSpPr/>
          <p:nvPr/>
        </p:nvSpPr>
        <p:spPr>
          <a:xfrm>
            <a:off x="1274216" y="1749704"/>
            <a:ext cx="153619" cy="153619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6600" b="1" dirty="0">
                <a:solidFill>
                  <a:srgbClr val="141A22"/>
                </a:solidFill>
              </a:rPr>
              <a:t>Doorman</a:t>
            </a:r>
            <a:endParaRPr lang="en-US" sz="6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822960" y="370332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rgbClr val="6B7280"/>
                </a:solidFill>
              </a:rPr>
              <a:t>Ask. Approve. Granted, for real, and on the record.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6B7280"/>
                </a:solidFill>
              </a:rPr>
              <a:t>A governed front door for market data on a trading desk.</a:t>
            </a:r>
            <a:endParaRPr lang="en-US" sz="2400" dirty="0"/>
          </a:p>
        </p:txBody>
      </p:sp>
      <p:sp>
        <p:nvSpPr>
          <p:cNvPr id="7" name="cover footer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Team Sierra  ·  Colibri Digital hackathon, Track 3: the governed front door  ·  21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1A22"/>
                </a:solidFill>
              </a:rPr>
              <a:t>Getting data on a desk, before and after</a:t>
            </a:r>
            <a:endParaRPr lang="en-US" sz="3200" dirty="0"/>
          </a:p>
        </p:txBody>
      </p:sp>
      <p:sp>
        <p:nvSpPr>
          <p:cNvPr id="3" name="panel Before: a ticket and an email chain"/>
          <p:cNvSpPr/>
          <p:nvPr/>
        </p:nvSpPr>
        <p:spPr>
          <a:xfrm>
            <a:off x="822960" y="1645920"/>
            <a:ext cx="5120640" cy="2834640"/>
          </a:xfrm>
          <a:prstGeom prst="roundRect">
            <a:avLst>
              <a:gd name="adj" fmla="val 451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4" name="panel head Before: a ticket and an email chain"/>
          <p:cNvSpPr txBox="1"/>
          <p:nvPr/>
        </p:nvSpPr>
        <p:spPr>
          <a:xfrm>
            <a:off x="1097280" y="18745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Before: a ticket and an email chain</a:t>
            </a:r>
            <a:endParaRPr lang="en-US" sz="1800" dirty="0"/>
          </a:p>
        </p:txBody>
      </p:sp>
      <p:sp>
        <p:nvSpPr>
          <p:cNvPr id="5" name="panel body Before: a ticket and an email chain"/>
          <p:cNvSpPr txBox="1"/>
          <p:nvPr/>
        </p:nvSpPr>
        <p:spPr>
          <a:xfrm>
            <a:off x="1097280" y="265176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</a:rPr>
              <a:t>The analyst emails the owner and waits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</a:rPr>
              <a:t>Nobody can say who has what, why, or what it costs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</a:rPr>
              <a:t>Confidential tables get opened by habit</a:t>
            </a:r>
            <a:endParaRPr lang="en-US" sz="1500" dirty="0"/>
          </a:p>
        </p:txBody>
      </p:sp>
      <p:sp>
        <p:nvSpPr>
          <p:cNvPr id="6" name="panel After: Doorman"/>
          <p:cNvSpPr/>
          <p:nvPr/>
        </p:nvSpPr>
        <p:spPr>
          <a:xfrm>
            <a:off x="6263640" y="1645920"/>
            <a:ext cx="5120640" cy="2834640"/>
          </a:xfrm>
          <a:prstGeom prst="roundRect">
            <a:avLst>
              <a:gd name="adj" fmla="val 451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7" name="panel head After: Doorman"/>
          <p:cNvSpPr txBox="1"/>
          <p:nvPr/>
        </p:nvSpPr>
        <p:spPr>
          <a:xfrm>
            <a:off x="6537960" y="18745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8A4C"/>
                </a:solidFill>
              </a:rPr>
              <a:t>After: Doorman</a:t>
            </a:r>
            <a:endParaRPr lang="en-US" sz="1800" dirty="0"/>
          </a:p>
        </p:txBody>
      </p:sp>
      <p:sp>
        <p:nvSpPr>
          <p:cNvPr id="8" name="panel body After: Doorman"/>
          <p:cNvSpPr txBox="1"/>
          <p:nvPr/>
        </p:nvSpPr>
        <p:spPr>
          <a:xfrm>
            <a:off x="6537960" y="265176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</a:rPr>
              <a:t>The analyst asks in the app, with a reason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</a:rPr>
              <a:t>The owner sees the reason and the £ per month, then decides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</a:rPr>
              <a:t>Approval is a real Unity Catalog grant; every step is on the record</a:t>
            </a:r>
            <a:endParaRPr lang="en-US" sz="1500" dirty="0"/>
          </a:p>
        </p:txBody>
      </p:sp>
      <p:sp>
        <p:nvSpPr>
          <p:cNvPr id="9" name="stat 0"/>
          <p:cNvSpPr txBox="1"/>
          <p:nvPr/>
        </p:nvSpPr>
        <p:spPr>
          <a:xfrm>
            <a:off x="822960" y="5074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451D1"/>
                </a:solidFill>
              </a:rPr>
              <a:t>1</a:t>
            </a:r>
            <a:endParaRPr lang="en-US" sz="4000" dirty="0"/>
          </a:p>
        </p:txBody>
      </p:sp>
      <p:sp>
        <p:nvSpPr>
          <p:cNvPr id="10" name="stat text 0"/>
          <p:cNvSpPr txBox="1"/>
          <p:nvPr/>
        </p:nvSpPr>
        <p:spPr>
          <a:xfrm>
            <a:off x="2331720" y="51206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table is the queue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and the audit trail</a:t>
            </a:r>
            <a:endParaRPr lang="en-US" sz="1200" dirty="0"/>
          </a:p>
        </p:txBody>
      </p:sp>
      <p:sp>
        <p:nvSpPr>
          <p:cNvPr id="11" name="stat 1"/>
          <p:cNvSpPr txBox="1"/>
          <p:nvPr/>
        </p:nvSpPr>
        <p:spPr>
          <a:xfrm>
            <a:off x="4434840" y="5074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451D1"/>
                </a:solidFill>
              </a:rPr>
              <a:t>0</a:t>
            </a:r>
            <a:endParaRPr lang="en-US" sz="4000" dirty="0"/>
          </a:p>
        </p:txBody>
      </p:sp>
      <p:sp>
        <p:nvSpPr>
          <p:cNvPr id="12" name="stat text 1"/>
          <p:cNvSpPr txBox="1"/>
          <p:nvPr/>
        </p:nvSpPr>
        <p:spPr>
          <a:xfrm>
            <a:off x="5943600" y="51206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table names in code: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the catalogue is the tags</a:t>
            </a:r>
            <a:endParaRPr lang="en-US" sz="1200" dirty="0"/>
          </a:p>
        </p:txBody>
      </p:sp>
      <p:sp>
        <p:nvSpPr>
          <p:cNvPr id="13" name="stat 2"/>
          <p:cNvSpPr txBox="1"/>
          <p:nvPr/>
        </p:nvSpPr>
        <p:spPr>
          <a:xfrm>
            <a:off x="8046720" y="5074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451D1"/>
                </a:solidFill>
              </a:rPr>
              <a:t>£120</a:t>
            </a:r>
            <a:endParaRPr lang="en-US" sz="4000" dirty="0"/>
          </a:p>
        </p:txBody>
      </p:sp>
      <p:sp>
        <p:nvSpPr>
          <p:cNvPr id="14" name="stat text 2"/>
          <p:cNvSpPr txBox="1"/>
          <p:nvPr/>
        </p:nvSpPr>
        <p:spPr>
          <a:xfrm>
            <a:off x="9555480" y="51206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per user per month for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one licensed price feed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1A22"/>
                </a:solidFill>
              </a:rPr>
              <a:t>The catalogue: every tagged table, nothing else</a:t>
            </a:r>
            <a:endParaRPr lang="en-US" sz="3200" dirty="0"/>
          </a:p>
        </p:txBody>
      </p:sp>
      <p:sp>
        <p:nvSpPr>
          <p:cNvPr id="3" name="catalogue frame"/>
          <p:cNvSpPr/>
          <p:nvPr/>
        </p:nvSpPr>
        <p:spPr>
          <a:xfrm>
            <a:off x="786384" y="1335024"/>
            <a:ext cx="9217152" cy="3410378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/>
            </a:solidFill>
            <a:prstDash val="solid"/>
          </a:ln>
        </p:spPr>
      </p:sp>
      <p:pic>
        <p:nvPicPr>
          <p:cNvPr id="4" name="catalogue screenshot" descr="/private/tmp/claude-501/-Users-yo84/972981a2-2672-4baf-8bfb-564a2e546510/scratchpad/deck/shot_catalog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9144000" cy="3337226"/>
          </a:xfrm>
          <a:prstGeom prst="rect">
            <a:avLst/>
          </a:prstGeom>
        </p:spPr>
      </p:pic>
      <p:sp>
        <p:nvSpPr>
          <p:cNvPr id="5" name="callout dot 1"/>
          <p:cNvSpPr/>
          <p:nvPr/>
        </p:nvSpPr>
        <p:spPr>
          <a:xfrm>
            <a:off x="822960" y="5092874"/>
            <a:ext cx="329184" cy="329184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6" name="callout n 1"/>
          <p:cNvSpPr txBox="1"/>
          <p:nvPr/>
        </p:nvSpPr>
        <p:spPr>
          <a:xfrm>
            <a:off x="822960" y="509287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callout head 1"/>
          <p:cNvSpPr txBox="1"/>
          <p:nvPr/>
        </p:nvSpPr>
        <p:spPr>
          <a:xfrm>
            <a:off x="1280160" y="507458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</a:rPr>
              <a:t>Owner, sensitivity, £ per month</a:t>
            </a:r>
            <a:endParaRPr lang="en-US" sz="1500" dirty="0"/>
          </a:p>
        </p:txBody>
      </p:sp>
      <p:sp>
        <p:nvSpPr>
          <p:cNvPr id="8" name="callout body 1"/>
          <p:cNvSpPr txBox="1"/>
          <p:nvPr/>
        </p:nvSpPr>
        <p:spPr>
          <a:xfrm>
            <a:off x="1280160" y="5440346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All three are Unity Catalog tags on the table. Tag a new table and it appears here. No deploy.</a:t>
            </a:r>
            <a:endParaRPr lang="en-US" sz="1300" dirty="0"/>
          </a:p>
        </p:txBody>
      </p:sp>
      <p:sp>
        <p:nvSpPr>
          <p:cNvPr id="9" name="callout dot 2"/>
          <p:cNvSpPr/>
          <p:nvPr/>
        </p:nvSpPr>
        <p:spPr>
          <a:xfrm>
            <a:off x="4389120" y="5092874"/>
            <a:ext cx="329184" cy="329184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10" name="callout n 2"/>
          <p:cNvSpPr txBox="1"/>
          <p:nvPr/>
        </p:nvSpPr>
        <p:spPr>
          <a:xfrm>
            <a:off x="4389120" y="509287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llout head 2"/>
          <p:cNvSpPr txBox="1"/>
          <p:nvPr/>
        </p:nvSpPr>
        <p:spPr>
          <a:xfrm>
            <a:off x="4846320" y="507458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</a:rPr>
              <a:t>Two owners, three products each</a:t>
            </a:r>
            <a:endParaRPr lang="en-US" sz="1500" dirty="0"/>
          </a:p>
        </p:txBody>
      </p:sp>
      <p:sp>
        <p:nvSpPr>
          <p:cNvPr id="12" name="callout body 2"/>
          <p:cNvSpPr txBox="1"/>
          <p:nvPr/>
        </p:nvSpPr>
        <p:spPr>
          <a:xfrm>
            <a:off x="4846320" y="5440346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Price data routes to Younis, corporate actions and the trading book to Jose. The tag decides.</a:t>
            </a:r>
            <a:endParaRPr lang="en-US" sz="1300" dirty="0"/>
          </a:p>
        </p:txBody>
      </p:sp>
      <p:sp>
        <p:nvSpPr>
          <p:cNvPr id="13" name="callout dot 3"/>
          <p:cNvSpPr/>
          <p:nvPr/>
        </p:nvSpPr>
        <p:spPr>
          <a:xfrm>
            <a:off x="7955280" y="5092874"/>
            <a:ext cx="329184" cy="329184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14" name="callout n 3"/>
          <p:cNvSpPr txBox="1"/>
          <p:nvPr/>
        </p:nvSpPr>
        <p:spPr>
          <a:xfrm>
            <a:off x="7955280" y="509287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callout head 3"/>
          <p:cNvSpPr txBox="1"/>
          <p:nvPr/>
        </p:nvSpPr>
        <p:spPr>
          <a:xfrm>
            <a:off x="8412480" y="507458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</a:rPr>
              <a:t>Your access, live</a:t>
            </a:r>
            <a:endParaRPr lang="en-US" sz="1500" dirty="0"/>
          </a:p>
        </p:txBody>
      </p:sp>
      <p:sp>
        <p:nvSpPr>
          <p:cNvPr id="16" name="callout body 3"/>
          <p:cNvSpPr txBox="1"/>
          <p:nvPr/>
        </p:nvSpPr>
        <p:spPr>
          <a:xfrm>
            <a:off x="8412480" y="5440346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Granted, pending, rejected or none, from the request log. Once granted: query it, or download a CSV.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1A22"/>
                </a:solidFill>
              </a:rPr>
              <a:t>Requesting access: one card, one reason</a:t>
            </a:r>
            <a:endParaRPr lang="en-US" sz="3200" dirty="0"/>
          </a:p>
        </p:txBody>
      </p:sp>
      <p:sp>
        <p:nvSpPr>
          <p:cNvPr id="3" name="card frame"/>
          <p:cNvSpPr/>
          <p:nvPr/>
        </p:nvSpPr>
        <p:spPr>
          <a:xfrm>
            <a:off x="786384" y="1426464"/>
            <a:ext cx="6788506" cy="4736592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/>
            </a:solidFill>
            <a:prstDash val="solid"/>
          </a:ln>
        </p:spPr>
      </p:sp>
      <p:pic>
        <p:nvPicPr>
          <p:cNvPr id="4" name="request card screenshot" descr="/private/tmp/claude-501/-Users-yo84/972981a2-2672-4baf-8bfb-564a2e546510/scratchpad/deck/shot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63040"/>
            <a:ext cx="6715354" cy="4663440"/>
          </a:xfrm>
          <a:prstGeom prst="rect">
            <a:avLst/>
          </a:prstGeom>
        </p:spPr>
      </p:pic>
      <p:sp>
        <p:nvSpPr>
          <p:cNvPr id="5" name="callout dot 1"/>
          <p:cNvSpPr/>
          <p:nvPr/>
        </p:nvSpPr>
        <p:spPr>
          <a:xfrm>
            <a:off x="7995514" y="1572768"/>
            <a:ext cx="329184" cy="329184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6" name="callout n 1"/>
          <p:cNvSpPr txBox="1"/>
          <p:nvPr/>
        </p:nvSpPr>
        <p:spPr>
          <a:xfrm>
            <a:off x="7995514" y="1572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callout head 1"/>
          <p:cNvSpPr txBox="1"/>
          <p:nvPr/>
        </p:nvSpPr>
        <p:spPr>
          <a:xfrm>
            <a:off x="8452714" y="1554480"/>
            <a:ext cx="28858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</a:rPr>
              <a:t>The price is the hero</a:t>
            </a:r>
            <a:endParaRPr lang="en-US" sz="1500" dirty="0"/>
          </a:p>
        </p:txBody>
      </p:sp>
      <p:sp>
        <p:nvSpPr>
          <p:cNvPr id="8" name="callout body 1"/>
          <p:cNvSpPr txBox="1"/>
          <p:nvPr/>
        </p:nvSpPr>
        <p:spPr>
          <a:xfrm>
            <a:off x="8452714" y="1920240"/>
            <a:ext cx="28858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£120 per user per month, read from the licence_cost_gbp tag. Every yes is a spend decision.</a:t>
            </a:r>
            <a:endParaRPr lang="en-US" sz="1300" dirty="0"/>
          </a:p>
        </p:txBody>
      </p:sp>
      <p:sp>
        <p:nvSpPr>
          <p:cNvPr id="9" name="callout dot 2"/>
          <p:cNvSpPr/>
          <p:nvPr/>
        </p:nvSpPr>
        <p:spPr>
          <a:xfrm>
            <a:off x="7995514" y="2761488"/>
            <a:ext cx="329184" cy="329184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10" name="callout n 2"/>
          <p:cNvSpPr txBox="1"/>
          <p:nvPr/>
        </p:nvSpPr>
        <p:spPr>
          <a:xfrm>
            <a:off x="7995514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llout head 2"/>
          <p:cNvSpPr txBox="1"/>
          <p:nvPr/>
        </p:nvSpPr>
        <p:spPr>
          <a:xfrm>
            <a:off x="8452714" y="2743200"/>
            <a:ext cx="28858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</a:rPr>
              <a:t>A reason is required</a:t>
            </a:r>
            <a:endParaRPr lang="en-US" sz="1500" dirty="0"/>
          </a:p>
        </p:txBody>
      </p:sp>
      <p:sp>
        <p:nvSpPr>
          <p:cNvPr id="12" name="callout body 2"/>
          <p:cNvSpPr txBox="1"/>
          <p:nvPr/>
        </p:nvSpPr>
        <p:spPr>
          <a:xfrm>
            <a:off x="8452714" y="3108960"/>
            <a:ext cx="28858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The owner reads it before deciding. An AI classifier flags vague reasons so the owner sees that too.</a:t>
            </a:r>
            <a:endParaRPr lang="en-US" sz="1300" dirty="0"/>
          </a:p>
        </p:txBody>
      </p:sp>
      <p:sp>
        <p:nvSpPr>
          <p:cNvPr id="13" name="callout dot 3"/>
          <p:cNvSpPr/>
          <p:nvPr/>
        </p:nvSpPr>
        <p:spPr>
          <a:xfrm>
            <a:off x="7995514" y="3950208"/>
            <a:ext cx="329184" cy="329184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14" name="callout n 3"/>
          <p:cNvSpPr txBox="1"/>
          <p:nvPr/>
        </p:nvSpPr>
        <p:spPr>
          <a:xfrm>
            <a:off x="7995514" y="3950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callout head 3"/>
          <p:cNvSpPr txBox="1"/>
          <p:nvPr/>
        </p:nvSpPr>
        <p:spPr>
          <a:xfrm>
            <a:off x="8452714" y="3931920"/>
            <a:ext cx="28858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</a:rPr>
              <a:t>Where it is</a:t>
            </a:r>
            <a:endParaRPr lang="en-US" sz="1500" dirty="0"/>
          </a:p>
        </p:txBody>
      </p:sp>
      <p:sp>
        <p:nvSpPr>
          <p:cNvPr id="16" name="callout body 3"/>
          <p:cNvSpPr txBox="1"/>
          <p:nvPr/>
        </p:nvSpPr>
        <p:spPr>
          <a:xfrm>
            <a:off x="8452714" y="4297680"/>
            <a:ext cx="28858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Request, owner review, access granted: the tracker fills as the owner acts.</a:t>
            </a:r>
            <a:endParaRPr lang="en-US" sz="1300" dirty="0"/>
          </a:p>
        </p:txBody>
      </p:sp>
      <p:sp>
        <p:nvSpPr>
          <p:cNvPr id="17" name="callout dot 4"/>
          <p:cNvSpPr/>
          <p:nvPr/>
        </p:nvSpPr>
        <p:spPr>
          <a:xfrm>
            <a:off x="7995514" y="5138928"/>
            <a:ext cx="329184" cy="329184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18" name="callout n 4"/>
          <p:cNvSpPr txBox="1"/>
          <p:nvPr/>
        </p:nvSpPr>
        <p:spPr>
          <a:xfrm>
            <a:off x="7995514" y="5138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callout head 4"/>
          <p:cNvSpPr txBox="1"/>
          <p:nvPr/>
        </p:nvSpPr>
        <p:spPr>
          <a:xfrm>
            <a:off x="8452714" y="5120640"/>
            <a:ext cx="28858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</a:rPr>
              <a:t>Nothing hard-coded</a:t>
            </a:r>
            <a:endParaRPr lang="en-US" sz="1500" dirty="0"/>
          </a:p>
        </p:txBody>
      </p:sp>
      <p:sp>
        <p:nvSpPr>
          <p:cNvPr id="20" name="callout body 4"/>
          <p:cNvSpPr txBox="1"/>
          <p:nvPr/>
        </p:nvSpPr>
        <p:spPr>
          <a:xfrm>
            <a:off x="8452714" y="5486400"/>
            <a:ext cx="28858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Owner, cost, sensitivity and the table itself come from Unity Catalog. The app only reads.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1A22"/>
                </a:solidFill>
              </a:rPr>
              <a:t>Under the hood</a:t>
            </a:r>
            <a:endParaRPr lang="en-US" sz="3200" dirty="0"/>
          </a:p>
        </p:txBody>
      </p:sp>
      <p:sp>
        <p:nvSpPr>
          <p:cNvPr id="3" name="step 1"/>
          <p:cNvSpPr/>
          <p:nvPr/>
        </p:nvSpPr>
        <p:spPr>
          <a:xfrm>
            <a:off x="822960" y="1737360"/>
            <a:ext cx="2011680" cy="2468880"/>
          </a:xfrm>
          <a:prstGeom prst="roundRect">
            <a:avLst>
              <a:gd name="adj" fmla="val 6364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4" name="step no 1"/>
          <p:cNvSpPr txBox="1"/>
          <p:nvPr/>
        </p:nvSpPr>
        <p:spPr>
          <a:xfrm>
            <a:off x="105156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51D1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step head 1"/>
          <p:cNvSpPr txBox="1"/>
          <p:nvPr/>
        </p:nvSpPr>
        <p:spPr>
          <a:xfrm>
            <a:off x="105156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</a:rPr>
              <a:t>Analyst asks</a:t>
            </a:r>
            <a:endParaRPr lang="en-US" sz="1600" dirty="0"/>
          </a:p>
        </p:txBody>
      </p:sp>
      <p:sp>
        <p:nvSpPr>
          <p:cNvPr id="6" name="step body 1"/>
          <p:cNvSpPr txBox="1"/>
          <p:nvPr/>
        </p:nvSpPr>
        <p:spPr>
          <a:xfrm>
            <a:off x="1051560" y="301752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Picks a table, gives a reason</a:t>
            </a:r>
            <a:endParaRPr lang="en-US" sz="1200" dirty="0"/>
          </a:p>
        </p:txBody>
      </p:sp>
      <p:sp>
        <p:nvSpPr>
          <p:cNvPr id="7" name="step 2"/>
          <p:cNvSpPr/>
          <p:nvPr/>
        </p:nvSpPr>
        <p:spPr>
          <a:xfrm>
            <a:off x="2944368" y="1737360"/>
            <a:ext cx="2011680" cy="2468880"/>
          </a:xfrm>
          <a:prstGeom prst="roundRect">
            <a:avLst>
              <a:gd name="adj" fmla="val 6364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8" name="step no 2"/>
          <p:cNvSpPr txBox="1"/>
          <p:nvPr/>
        </p:nvSpPr>
        <p:spPr>
          <a:xfrm>
            <a:off x="3172968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51D1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step head 2"/>
          <p:cNvSpPr txBox="1"/>
          <p:nvPr/>
        </p:nvSpPr>
        <p:spPr>
          <a:xfrm>
            <a:off x="3172968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</a:rPr>
              <a:t>Owner from the tag</a:t>
            </a:r>
            <a:endParaRPr lang="en-US" sz="1600" dirty="0"/>
          </a:p>
        </p:txBody>
      </p:sp>
      <p:sp>
        <p:nvSpPr>
          <p:cNvPr id="10" name="step body 2"/>
          <p:cNvSpPr txBox="1"/>
          <p:nvPr/>
        </p:nvSpPr>
        <p:spPr>
          <a:xfrm>
            <a:off x="3172968" y="301752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data_owner on the table, not a config file</a:t>
            </a:r>
            <a:endParaRPr lang="en-US" sz="1200" dirty="0"/>
          </a:p>
        </p:txBody>
      </p:sp>
      <p:sp>
        <p:nvSpPr>
          <p:cNvPr id="11" name="step 3"/>
          <p:cNvSpPr/>
          <p:nvPr/>
        </p:nvSpPr>
        <p:spPr>
          <a:xfrm>
            <a:off x="5065776" y="1737360"/>
            <a:ext cx="2011680" cy="2468880"/>
          </a:xfrm>
          <a:prstGeom prst="roundRect">
            <a:avLst>
              <a:gd name="adj" fmla="val 6364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2" name="step no 3"/>
          <p:cNvSpPr txBox="1"/>
          <p:nvPr/>
        </p:nvSpPr>
        <p:spPr>
          <a:xfrm>
            <a:off x="5294376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51D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step head 3"/>
          <p:cNvSpPr txBox="1"/>
          <p:nvPr/>
        </p:nvSpPr>
        <p:spPr>
          <a:xfrm>
            <a:off x="5294376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</a:rPr>
              <a:t>Owner decides</a:t>
            </a:r>
            <a:endParaRPr lang="en-US" sz="1600" dirty="0"/>
          </a:p>
        </p:txBody>
      </p:sp>
      <p:sp>
        <p:nvSpPr>
          <p:cNvPr id="14" name="step body 3"/>
          <p:cNvSpPr txBox="1"/>
          <p:nvPr/>
        </p:nvSpPr>
        <p:spPr>
          <a:xfrm>
            <a:off x="5294376" y="301752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Sees the £, the reason, the sensitivity</a:t>
            </a:r>
            <a:endParaRPr lang="en-US" sz="1200" dirty="0"/>
          </a:p>
        </p:txBody>
      </p:sp>
      <p:sp>
        <p:nvSpPr>
          <p:cNvPr id="15" name="step 4"/>
          <p:cNvSpPr/>
          <p:nvPr/>
        </p:nvSpPr>
        <p:spPr>
          <a:xfrm>
            <a:off x="7187184" y="1737360"/>
            <a:ext cx="2011680" cy="2468880"/>
          </a:xfrm>
          <a:prstGeom prst="roundRect">
            <a:avLst>
              <a:gd name="adj" fmla="val 6364"/>
            </a:avLst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16" name="step no 4"/>
          <p:cNvSpPr txBox="1"/>
          <p:nvPr/>
        </p:nvSpPr>
        <p:spPr>
          <a:xfrm>
            <a:off x="7415784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7" name="step head 4"/>
          <p:cNvSpPr txBox="1"/>
          <p:nvPr/>
        </p:nvSpPr>
        <p:spPr>
          <a:xfrm>
            <a:off x="7415784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Real grant</a:t>
            </a:r>
            <a:endParaRPr lang="en-US" sz="1600" dirty="0"/>
          </a:p>
        </p:txBody>
      </p:sp>
      <p:sp>
        <p:nvSpPr>
          <p:cNvPr id="18" name="step body 4"/>
          <p:cNvSpPr txBox="1"/>
          <p:nvPr/>
        </p:nvSpPr>
        <p:spPr>
          <a:xfrm>
            <a:off x="7415784" y="301752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GRANT SELECT in Unity Catalog, or a reject with a note</a:t>
            </a:r>
            <a:endParaRPr lang="en-US" sz="1200" dirty="0"/>
          </a:p>
        </p:txBody>
      </p:sp>
      <p:sp>
        <p:nvSpPr>
          <p:cNvPr id="19" name="step 5"/>
          <p:cNvSpPr/>
          <p:nvPr/>
        </p:nvSpPr>
        <p:spPr>
          <a:xfrm>
            <a:off x="9308592" y="1737360"/>
            <a:ext cx="2011680" cy="2468880"/>
          </a:xfrm>
          <a:prstGeom prst="roundRect">
            <a:avLst>
              <a:gd name="adj" fmla="val 6364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20" name="step no 5"/>
          <p:cNvSpPr txBox="1"/>
          <p:nvPr/>
        </p:nvSpPr>
        <p:spPr>
          <a:xfrm>
            <a:off x="9537192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51D1"/>
                </a:solidFill>
              </a:rPr>
              <a:t>5</a:t>
            </a:r>
            <a:endParaRPr lang="en-US" sz="1200" dirty="0"/>
          </a:p>
        </p:txBody>
      </p:sp>
      <p:sp>
        <p:nvSpPr>
          <p:cNvPr id="21" name="step head 5"/>
          <p:cNvSpPr txBox="1"/>
          <p:nvPr/>
        </p:nvSpPr>
        <p:spPr>
          <a:xfrm>
            <a:off x="9537192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</a:rPr>
              <a:t>Queue and receipt</a:t>
            </a:r>
            <a:endParaRPr lang="en-US" sz="1600" dirty="0"/>
          </a:p>
        </p:txBody>
      </p:sp>
      <p:sp>
        <p:nvSpPr>
          <p:cNvPr id="22" name="step body 5"/>
          <p:cNvSpPr txBox="1"/>
          <p:nvPr/>
        </p:nvSpPr>
        <p:spPr>
          <a:xfrm>
            <a:off x="9537192" y="301752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One table holds every step; Genie answers questions on it</a:t>
            </a:r>
            <a:endParaRPr lang="en-US" sz="1200" dirty="0"/>
          </a:p>
        </p:txBody>
      </p:sp>
      <p:sp>
        <p:nvSpPr>
          <p:cNvPr id="23" name="panel Runs as the signed-in user"/>
          <p:cNvSpPr/>
          <p:nvPr/>
        </p:nvSpPr>
        <p:spPr>
          <a:xfrm>
            <a:off x="822960" y="4572000"/>
            <a:ext cx="10515600" cy="1554480"/>
          </a:xfrm>
          <a:prstGeom prst="roundRect">
            <a:avLst>
              <a:gd name="adj" fmla="val 823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24" name="panel head Runs as the signed-in user"/>
          <p:cNvSpPr txBox="1"/>
          <p:nvPr/>
        </p:nvSpPr>
        <p:spPr>
          <a:xfrm>
            <a:off x="1097280" y="480060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451D1"/>
                </a:solidFill>
              </a:rPr>
              <a:t>Runs as the signed-in user</a:t>
            </a:r>
            <a:endParaRPr lang="en-US" sz="1800" dirty="0"/>
          </a:p>
        </p:txBody>
      </p:sp>
      <p:sp>
        <p:nvSpPr>
          <p:cNvPr id="25" name="panel body Runs as the signed-in user"/>
          <p:cNvSpPr txBox="1"/>
          <p:nvPr/>
        </p:nvSpPr>
        <p:spPr>
          <a:xfrm>
            <a:off x="1097280" y="557784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A22"/>
                </a:solidFill>
              </a:rPr>
              <a:t>The app forwards each user's own Databricks identity to the SQL warehouse. A person's rights in Doorman are exactly their rights in Unity Catalog; the app never flips a flag of its own. Denied before, rows after.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1A22"/>
                </a:solidFill>
              </a:rPr>
              <a:t>Governed by default, and how we know</a:t>
            </a:r>
            <a:endParaRPr lang="en-US" sz="3200" dirty="0"/>
          </a:p>
        </p:txBody>
      </p:sp>
      <p:sp>
        <p:nvSpPr>
          <p:cNvPr id="3" name="panel The catalogue is the tags"/>
          <p:cNvSpPr/>
          <p:nvPr/>
        </p:nvSpPr>
        <p:spPr>
          <a:xfrm>
            <a:off x="822960" y="1554480"/>
            <a:ext cx="3383280" cy="2377440"/>
          </a:xfrm>
          <a:prstGeom prst="roundRect">
            <a:avLst>
              <a:gd name="adj" fmla="val 538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4" name="panel head The catalogue is the tags"/>
          <p:cNvSpPr txBox="1"/>
          <p:nvPr/>
        </p:nvSpPr>
        <p:spPr>
          <a:xfrm>
            <a:off x="1097280" y="1783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451D1"/>
                </a:solidFill>
              </a:rPr>
              <a:t>The catalogue is the tags</a:t>
            </a:r>
            <a:endParaRPr lang="en-US" sz="1800" dirty="0"/>
          </a:p>
        </p:txBody>
      </p:sp>
      <p:sp>
        <p:nvSpPr>
          <p:cNvPr id="5" name="panel body The catalogue is the tags"/>
          <p:cNvSpPr txBox="1"/>
          <p:nvPr/>
        </p:nvSpPr>
        <p:spPr>
          <a:xfrm>
            <a:off x="1097280" y="2560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A22"/>
                </a:solidFill>
              </a:rPr>
              <a:t>Requestable means: carries a data_owner tag. Reuse is one ALTER TABLE.</a:t>
            </a:r>
            <a:endParaRPr lang="en-US" sz="1500" dirty="0"/>
          </a:p>
        </p:txBody>
      </p:sp>
      <p:sp>
        <p:nvSpPr>
          <p:cNvPr id="6" name="panel Only the owner decides"/>
          <p:cNvSpPr/>
          <p:nvPr/>
        </p:nvSpPr>
        <p:spPr>
          <a:xfrm>
            <a:off x="4389120" y="1554480"/>
            <a:ext cx="3383280" cy="2377440"/>
          </a:xfrm>
          <a:prstGeom prst="roundRect">
            <a:avLst>
              <a:gd name="adj" fmla="val 538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7" name="panel head Only the owner decides"/>
          <p:cNvSpPr txBox="1"/>
          <p:nvPr/>
        </p:nvSpPr>
        <p:spPr>
          <a:xfrm>
            <a:off x="4663440" y="1783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451D1"/>
                </a:solidFill>
              </a:rPr>
              <a:t>Only the owner decides</a:t>
            </a:r>
            <a:endParaRPr lang="en-US" sz="1800" dirty="0"/>
          </a:p>
        </p:txBody>
      </p:sp>
      <p:sp>
        <p:nvSpPr>
          <p:cNvPr id="8" name="panel body Only the owner decides"/>
          <p:cNvSpPr txBox="1"/>
          <p:nvPr/>
        </p:nvSpPr>
        <p:spPr>
          <a:xfrm>
            <a:off x="4663440" y="2560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A22"/>
                </a:solidFill>
              </a:rPr>
              <a:t>The approver comes from the tag at request time. Anyone else is refused by code, not by UI.</a:t>
            </a:r>
            <a:endParaRPr lang="en-US" sz="1500" dirty="0"/>
          </a:p>
        </p:txBody>
      </p:sp>
      <p:sp>
        <p:nvSpPr>
          <p:cNvPr id="9" name="panel Nothing is hidden"/>
          <p:cNvSpPr/>
          <p:nvPr/>
        </p:nvSpPr>
        <p:spPr>
          <a:xfrm>
            <a:off x="7955280" y="1554480"/>
            <a:ext cx="3383280" cy="2377440"/>
          </a:xfrm>
          <a:prstGeom prst="roundRect">
            <a:avLst>
              <a:gd name="adj" fmla="val 538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0" name="panel head Nothing is hidden"/>
          <p:cNvSpPr txBox="1"/>
          <p:nvPr/>
        </p:nvSpPr>
        <p:spPr>
          <a:xfrm>
            <a:off x="8229600" y="1783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451D1"/>
                </a:solidFill>
              </a:rPr>
              <a:t>Nothing is hidden</a:t>
            </a:r>
            <a:endParaRPr lang="en-US" sz="1800" dirty="0"/>
          </a:p>
        </p:txBody>
      </p:sp>
      <p:sp>
        <p:nvSpPr>
          <p:cNvPr id="11" name="panel body Nothing is hidden"/>
          <p:cNvSpPr txBox="1"/>
          <p:nvPr/>
        </p:nvSpPr>
        <p:spPr>
          <a:xfrm>
            <a:off x="8229600" y="2560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A22"/>
                </a:solidFill>
              </a:rPr>
              <a:t>Reject needs a note the requester sees. A failed grant is recorded with its error. Revoke keeps the record.</a:t>
            </a:r>
            <a:endParaRPr lang="en-US" sz="1500" dirty="0"/>
          </a:p>
        </p:txBody>
      </p:sp>
      <p:sp>
        <p:nvSpPr>
          <p:cNvPr id="12" name="panel Proof it is real, shown live"/>
          <p:cNvSpPr/>
          <p:nvPr/>
        </p:nvSpPr>
        <p:spPr>
          <a:xfrm>
            <a:off x="822960" y="4206240"/>
            <a:ext cx="10515600" cy="1920240"/>
          </a:xfrm>
          <a:prstGeom prst="roundRect">
            <a:avLst>
              <a:gd name="adj" fmla="val 6667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3" name="panel head Proof it is real, shown live"/>
          <p:cNvSpPr txBox="1"/>
          <p:nvPr/>
        </p:nvSpPr>
        <p:spPr>
          <a:xfrm>
            <a:off x="1097280" y="4434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8A4C"/>
                </a:solidFill>
              </a:rPr>
              <a:t>Proof it is real, shown live</a:t>
            </a:r>
            <a:endParaRPr lang="en-US" sz="1800" dirty="0"/>
          </a:p>
        </p:txBody>
      </p:sp>
      <p:sp>
        <p:nvSpPr>
          <p:cNvPr id="14" name="panel body Proof it is real, shown live"/>
          <p:cNvSpPr txBox="1"/>
          <p:nvPr/>
        </p:nvSpPr>
        <p:spPr>
          <a:xfrm>
            <a:off x="1097280" y="521208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</a:rPr>
              <a:t>SHOW GRANTS on the table lists the requester after approval and not before; the same query fails, then returns rows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</a:rPr>
              <a:t>A teammate tagged a new table mid-evening and it appeared in the catalogue with no deploy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</a:rPr>
              <a:t>Genie answers "what is our licence spend by table?" from the audit table alone; 39 automated tests; only governance.py can grant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1A22"/>
                </a:solidFill>
              </a:rPr>
              <a:t>Against the brief: Track 3, the governed front door</a:t>
            </a:r>
            <a:endParaRPr lang="en-US" sz="3200" dirty="0"/>
          </a:p>
        </p:txBody>
      </p:sp>
      <p:graphicFrame>
        <p:nvGraphicFramePr>
          <p:cNvPr id="8" name="brief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17320"/>
          <a:ext cx="105156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5577840"/>
                <a:gridCol w="1097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28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Colibri asked for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28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Doorman</a:t>
                      </a: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Request in the app: pick a Unity Catalog asset, give a reason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Catalogue page lists every tagged table; a reason is required and AI-flagged if vague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8A4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Route to the right approver from UC ownership or tags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Approver read from the data_owner tag at request time; two owners live tonight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8A4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Approve applies a real UC grant and informs the requester; reject blocks and says why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GRANT SELECT in Unity Catalog; status and the owner's note shown in-app; revoke keeps the record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8A4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Audit trail in a Delta table: who, what, when, outcome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access_requests is the queue and the receipt; Genie answers questions on it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8A4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Scope: tables only, one approver per asset, in-app queue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Exactly that, plus views as products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8A4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Stretch: Teams or email, time-boxed access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Next: expiring grants and notifications (slide 8)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B728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Next</a:t>
                      </a:r>
                      <a:endParaRPr lang="en-US" sz="12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rit 0"/>
          <p:cNvSpPr/>
          <p:nvPr/>
        </p:nvSpPr>
        <p:spPr>
          <a:xfrm>
            <a:off x="822960" y="4983480"/>
            <a:ext cx="2029968" cy="1188720"/>
          </a:xfrm>
          <a:prstGeom prst="roundRect">
            <a:avLst>
              <a:gd name="adj" fmla="val 9231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5" name="crit head 0"/>
          <p:cNvSpPr txBox="1"/>
          <p:nvPr/>
        </p:nvSpPr>
        <p:spPr>
          <a:xfrm>
            <a:off x="987552" y="5074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51D1"/>
                </a:solidFill>
              </a:rPr>
              <a:t>Governance 25%</a:t>
            </a:r>
            <a:endParaRPr lang="en-US" sz="1250" dirty="0"/>
          </a:p>
        </p:txBody>
      </p:sp>
      <p:sp>
        <p:nvSpPr>
          <p:cNvPr id="6" name="crit body 0"/>
          <p:cNvSpPr txBox="1"/>
          <p:nvPr/>
        </p:nvSpPr>
        <p:spPr>
          <a:xfrm>
            <a:off x="987552" y="53949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1A22"/>
                </a:solidFill>
              </a:rPr>
              <a:t>Real grant, owner-only, nothing hidden</a:t>
            </a:r>
            <a:endParaRPr lang="en-US" sz="1100" dirty="0"/>
          </a:p>
        </p:txBody>
      </p:sp>
      <p:sp>
        <p:nvSpPr>
          <p:cNvPr id="7" name="crit 1"/>
          <p:cNvSpPr/>
          <p:nvPr/>
        </p:nvSpPr>
        <p:spPr>
          <a:xfrm>
            <a:off x="2962656" y="4983480"/>
            <a:ext cx="2029968" cy="1188720"/>
          </a:xfrm>
          <a:prstGeom prst="roundRect">
            <a:avLst>
              <a:gd name="adj" fmla="val 9231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8" name="crit head 1"/>
          <p:cNvSpPr txBox="1"/>
          <p:nvPr/>
        </p:nvSpPr>
        <p:spPr>
          <a:xfrm>
            <a:off x="3127248" y="5074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51D1"/>
                </a:solidFill>
              </a:rPr>
              <a:t>Reusability 25%</a:t>
            </a:r>
            <a:endParaRPr lang="en-US" sz="1250" dirty="0"/>
          </a:p>
        </p:txBody>
      </p:sp>
      <p:sp>
        <p:nvSpPr>
          <p:cNvPr id="9" name="crit body 1"/>
          <p:cNvSpPr txBox="1"/>
          <p:nvPr/>
        </p:nvSpPr>
        <p:spPr>
          <a:xfrm>
            <a:off x="3127248" y="53949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1A22"/>
                </a:solidFill>
              </a:rPr>
              <a:t>Tag a table, it appears; no code</a:t>
            </a:r>
            <a:endParaRPr lang="en-US" sz="1100" dirty="0"/>
          </a:p>
        </p:txBody>
      </p:sp>
      <p:sp>
        <p:nvSpPr>
          <p:cNvPr id="10" name="crit 2"/>
          <p:cNvSpPr/>
          <p:nvPr/>
        </p:nvSpPr>
        <p:spPr>
          <a:xfrm>
            <a:off x="5102352" y="4983480"/>
            <a:ext cx="2029968" cy="1188720"/>
          </a:xfrm>
          <a:prstGeom prst="roundRect">
            <a:avLst>
              <a:gd name="adj" fmla="val 9231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1" name="crit head 2"/>
          <p:cNvSpPr txBox="1"/>
          <p:nvPr/>
        </p:nvSpPr>
        <p:spPr>
          <a:xfrm>
            <a:off x="5266944" y="5074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51D1"/>
                </a:solidFill>
              </a:rPr>
              <a:t>Self-service 25%</a:t>
            </a:r>
            <a:endParaRPr lang="en-US" sz="1250" dirty="0"/>
          </a:p>
        </p:txBody>
      </p:sp>
      <p:sp>
        <p:nvSpPr>
          <p:cNvPr id="12" name="crit body 2"/>
          <p:cNvSpPr txBox="1"/>
          <p:nvPr/>
        </p:nvSpPr>
        <p:spPr>
          <a:xfrm>
            <a:off x="5266944" y="53949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1A22"/>
                </a:solidFill>
              </a:rPr>
              <a:t>No ticket: ask, see status, download</a:t>
            </a:r>
            <a:endParaRPr lang="en-US" sz="1100" dirty="0"/>
          </a:p>
        </p:txBody>
      </p:sp>
      <p:sp>
        <p:nvSpPr>
          <p:cNvPr id="13" name="crit 3"/>
          <p:cNvSpPr/>
          <p:nvPr/>
        </p:nvSpPr>
        <p:spPr>
          <a:xfrm>
            <a:off x="7242048" y="4983480"/>
            <a:ext cx="2029968" cy="1188720"/>
          </a:xfrm>
          <a:prstGeom prst="roundRect">
            <a:avLst>
              <a:gd name="adj" fmla="val 9231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4" name="crit head 3"/>
          <p:cNvSpPr txBox="1"/>
          <p:nvPr/>
        </p:nvSpPr>
        <p:spPr>
          <a:xfrm>
            <a:off x="7406640" y="5074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51D1"/>
                </a:solidFill>
              </a:rPr>
              <a:t>Polish 15%</a:t>
            </a:r>
            <a:endParaRPr lang="en-US" sz="1250" dirty="0"/>
          </a:p>
        </p:txBody>
      </p:sp>
      <p:sp>
        <p:nvSpPr>
          <p:cNvPr id="15" name="crit body 3"/>
          <p:cNvSpPr txBox="1"/>
          <p:nvPr/>
        </p:nvSpPr>
        <p:spPr>
          <a:xfrm>
            <a:off x="7406640" y="53949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1A22"/>
                </a:solidFill>
              </a:rPr>
              <a:t>One accent, one card, one reason</a:t>
            </a:r>
            <a:endParaRPr lang="en-US" sz="1100" dirty="0"/>
          </a:p>
        </p:txBody>
      </p:sp>
      <p:sp>
        <p:nvSpPr>
          <p:cNvPr id="16" name="crit 4"/>
          <p:cNvSpPr/>
          <p:nvPr/>
        </p:nvSpPr>
        <p:spPr>
          <a:xfrm>
            <a:off x="9381744" y="4983480"/>
            <a:ext cx="2029968" cy="1188720"/>
          </a:xfrm>
          <a:prstGeom prst="roundRect">
            <a:avLst>
              <a:gd name="adj" fmla="val 9231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7" name="crit head 4"/>
          <p:cNvSpPr txBox="1"/>
          <p:nvPr/>
        </p:nvSpPr>
        <p:spPr>
          <a:xfrm>
            <a:off x="9546336" y="5074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51D1"/>
                </a:solidFill>
              </a:rPr>
              <a:t>Innovation 10%</a:t>
            </a:r>
            <a:endParaRPr lang="en-US" sz="1250" dirty="0"/>
          </a:p>
        </p:txBody>
      </p:sp>
      <p:sp>
        <p:nvSpPr>
          <p:cNvPr id="18" name="crit body 4"/>
          <p:cNvSpPr txBox="1"/>
          <p:nvPr/>
        </p:nvSpPr>
        <p:spPr>
          <a:xfrm>
            <a:off x="9546336" y="53949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1A22"/>
                </a:solidFill>
              </a:rPr>
              <a:t>Genie on the audit trail, ai_classify on reasons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1A22"/>
                </a:solidFill>
              </a:rPr>
              <a:t>What comes next</a:t>
            </a:r>
            <a:endParaRPr lang="en-US" sz="3200" dirty="0"/>
          </a:p>
        </p:txBody>
      </p:sp>
      <p:sp>
        <p:nvSpPr>
          <p:cNvPr id="3" name="panel Expiring access"/>
          <p:cNvSpPr/>
          <p:nvPr/>
        </p:nvSpPr>
        <p:spPr>
          <a:xfrm>
            <a:off x="822960" y="1554480"/>
            <a:ext cx="3383280" cy="2286000"/>
          </a:xfrm>
          <a:prstGeom prst="roundRect">
            <a:avLst>
              <a:gd name="adj" fmla="val 5600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4" name="panel head Expiring access"/>
          <p:cNvSpPr txBox="1"/>
          <p:nvPr/>
        </p:nvSpPr>
        <p:spPr>
          <a:xfrm>
            <a:off x="1097280" y="1783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A22"/>
                </a:solidFill>
              </a:rPr>
              <a:t>Expiring access</a:t>
            </a:r>
            <a:endParaRPr lang="en-US" sz="1800" dirty="0"/>
          </a:p>
        </p:txBody>
      </p:sp>
      <p:sp>
        <p:nvSpPr>
          <p:cNvPr id="5" name="panel body Expiring access"/>
          <p:cNvSpPr txBox="1"/>
          <p:nvPr/>
        </p:nvSpPr>
        <p:spPr>
          <a:xfrm>
            <a:off x="1097280" y="25603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A22"/>
                </a:solidFill>
              </a:rPr>
              <a:t>Grants with an end date and a scheduled revoke, so entitlements never outlive the project.</a:t>
            </a:r>
            <a:endParaRPr lang="en-US" sz="1500" dirty="0"/>
          </a:p>
        </p:txBody>
      </p:sp>
      <p:sp>
        <p:nvSpPr>
          <p:cNvPr id="6" name="panel Notify the owner"/>
          <p:cNvSpPr/>
          <p:nvPr/>
        </p:nvSpPr>
        <p:spPr>
          <a:xfrm>
            <a:off x="4389120" y="1554480"/>
            <a:ext cx="3383280" cy="2286000"/>
          </a:xfrm>
          <a:prstGeom prst="roundRect">
            <a:avLst>
              <a:gd name="adj" fmla="val 5600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7" name="panel head Notify the owner"/>
          <p:cNvSpPr txBox="1"/>
          <p:nvPr/>
        </p:nvSpPr>
        <p:spPr>
          <a:xfrm>
            <a:off x="4663440" y="1783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A22"/>
                </a:solidFill>
              </a:rPr>
              <a:t>Notify the owner</a:t>
            </a:r>
            <a:endParaRPr lang="en-US" sz="1800" dirty="0"/>
          </a:p>
        </p:txBody>
      </p:sp>
      <p:sp>
        <p:nvSpPr>
          <p:cNvPr id="8" name="panel body Notify the owner"/>
          <p:cNvSpPr txBox="1"/>
          <p:nvPr/>
        </p:nvSpPr>
        <p:spPr>
          <a:xfrm>
            <a:off x="4663440" y="25603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A22"/>
                </a:solidFill>
              </a:rPr>
              <a:t>Teams or email on request and on decision; the queue comes to you.</a:t>
            </a:r>
            <a:endParaRPr lang="en-US" sz="1500" dirty="0"/>
          </a:p>
        </p:txBody>
      </p:sp>
      <p:sp>
        <p:nvSpPr>
          <p:cNvPr id="9" name="panel Chargeback"/>
          <p:cNvSpPr/>
          <p:nvPr/>
        </p:nvSpPr>
        <p:spPr>
          <a:xfrm>
            <a:off x="7955280" y="1554480"/>
            <a:ext cx="3383280" cy="2286000"/>
          </a:xfrm>
          <a:prstGeom prst="roundRect">
            <a:avLst>
              <a:gd name="adj" fmla="val 5600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0" name="panel head Chargeback"/>
          <p:cNvSpPr txBox="1"/>
          <p:nvPr/>
        </p:nvSpPr>
        <p:spPr>
          <a:xfrm>
            <a:off x="8229600" y="1783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A22"/>
                </a:solidFill>
              </a:rPr>
              <a:t>Chargeback</a:t>
            </a:r>
            <a:endParaRPr lang="en-US" sz="1800" dirty="0"/>
          </a:p>
        </p:txBody>
      </p:sp>
      <p:sp>
        <p:nvSpPr>
          <p:cNvPr id="11" name="panel body Chargeback"/>
          <p:cNvSpPr txBox="1"/>
          <p:nvPr/>
        </p:nvSpPr>
        <p:spPr>
          <a:xfrm>
            <a:off x="8229600" y="25603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A22"/>
                </a:solidFill>
              </a:rPr>
              <a:t>Licence spend by desk and cost centre, straight from the audit table.</a:t>
            </a:r>
            <a:endParaRPr lang="en-US" sz="1500" dirty="0"/>
          </a:p>
        </p:txBody>
      </p:sp>
      <p:sp>
        <p:nvSpPr>
          <p:cNvPr id="12" name="team head"/>
          <p:cNvSpPr txBox="1"/>
          <p:nvPr/>
        </p:nvSpPr>
        <p:spPr>
          <a:xfrm>
            <a:off x="822960" y="4297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A22"/>
                </a:solidFill>
              </a:rPr>
              <a:t>Team Sierra</a:t>
            </a:r>
            <a:endParaRPr lang="en-US" sz="2000" dirty="0"/>
          </a:p>
        </p:txBody>
      </p:sp>
      <p:sp>
        <p:nvSpPr>
          <p:cNvPr id="13" name="team body"/>
          <p:cNvSpPr txBox="1"/>
          <p:nvPr/>
        </p:nvSpPr>
        <p:spPr>
          <a:xfrm>
            <a:off x="822960" y="4800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Jose and Malik, front end  ·  Younis and Patrick, data, governance and platform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Databricks Apps, Unity Catalog, Genie, ai_classify. Built with Codex and Claude Code.</a:t>
            </a:r>
            <a:endParaRPr lang="en-US" sz="1400" dirty="0"/>
          </a:p>
        </p:txBody>
      </p:sp>
      <p:sp>
        <p:nvSpPr>
          <p:cNvPr id="14" name="repo"/>
          <p:cNvSpPr txBox="1"/>
          <p:nvPr/>
        </p:nvSpPr>
        <p:spPr>
          <a:xfrm>
            <a:off x="822960" y="5669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451D1"/>
                </a:solidFill>
              </a:rPr>
              <a:t>github.com/younis-y/desk-data-access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oorman Light">
  <a:themeElements>
    <a:clrScheme name="Doorman Light">
      <a:dk1>
        <a:srgbClr val="141A22"/>
      </a:dk1>
      <a:lt1>
        <a:srgbClr val="FFFFFF"/>
      </a:lt1>
      <a:dk2>
        <a:srgbClr val="2B3442"/>
      </a:dk2>
      <a:lt2>
        <a:srgbClr val="F3F5F9"/>
      </a:lt2>
      <a:accent1>
        <a:srgbClr val="3451D1"/>
      </a:accent1>
      <a:accent2>
        <a:srgbClr val="6B7280"/>
      </a:accent2>
      <a:accent3>
        <a:srgbClr val="1B8A4C"/>
      </a:accent3>
      <a:accent4>
        <a:srgbClr val="B7791F"/>
      </a:accent4>
      <a:accent5>
        <a:srgbClr val="C0392B"/>
      </a:accent5>
      <a:accent6>
        <a:srgbClr val="DDE2EA"/>
      </a:accent6>
      <a:hlink>
        <a:srgbClr val="3451D1"/>
      </a:hlink>
      <a:folHlink>
        <a:srgbClr val="3451D1"/>
      </a:folHlink>
    </a:clrScheme>
    <a:fontScheme name="Doorman Ligh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Doorman</dc:title>
  <dc:subject>PptxGenJS Presentation</dc:subject>
  <dc:creator>Team Sierra</dc:creator>
  <cp:lastModifiedBy>Team Sierra</cp:lastModifiedBy>
  <cp:revision>1</cp:revision>
  <dcterms:created xsi:type="dcterms:W3CDTF">2026-10-21T19:08:04Z</dcterms:created>
  <dcterms:modified xsi:type="dcterms:W3CDTF">2026-10-21T19:08:04Z</dcterms:modified>
</cp:coreProperties>
</file>